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6" r:id="rId10"/>
  </p:sldIdLst>
  <p:sldSz cx="12192000" cy="6858000"/>
  <p:notesSz cx="6858000" cy="12192000"/>
  <p:embeddedFontLst>
    <p:embeddedFont>
      <p:font typeface="Inter" panose="020B0604020202020204" charset="0"/>
      <p:regular r:id="rId12"/>
      <p:bold r:id="rId13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49872"/>
    <a:srgbClr val="2BA4A1"/>
    <a:srgbClr val="1E926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48" d="100"/>
          <a:sy n="48" d="100"/>
        </p:scale>
        <p:origin x="53" y="8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s-CO"/>
        </a:p>
      </c:txPr>
    </c:title>
    <c:autoTitleDeleted val="0"/>
    <c:plotArea>
      <c:layout/>
      <c:doughnutChart>
        <c:varyColors val="1"/>
        <c:ser>
          <c:idx val="0"/>
          <c:order val="0"/>
          <c:tx>
            <c:strRef>
              <c:f>Hoja1!$B$1</c:f>
              <c:strCache>
                <c:ptCount val="1"/>
                <c:pt idx="0">
                  <c:v>Distribucion de la variable de objetivo (Left)</c:v>
                </c:pt>
              </c:strCache>
            </c:strRef>
          </c:tx>
          <c:dPt>
            <c:idx val="0"/>
            <c:bubble3D val="0"/>
            <c:spPr>
              <a:solidFill>
                <a:srgbClr val="149872">
                  <a:alpha val="78824"/>
                </a:srgb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6125-4495-B0D4-70CCAB02C836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</c:dPt>
          <c:cat>
            <c:strRef>
              <c:f>Hoja1!$A$2:$A$3</c:f>
              <c:strCache>
                <c:ptCount val="2"/>
                <c:pt idx="0">
                  <c:v>0 (Permaneció)</c:v>
                </c:pt>
                <c:pt idx="1">
                  <c:v>1 (Abandonó)</c:v>
                </c:pt>
              </c:strCache>
            </c:strRef>
          </c:cat>
          <c:val>
            <c:numRef>
              <c:f>Hoja1!$B$2:$B$3</c:f>
              <c:numCache>
                <c:formatCode>0.00%</c:formatCode>
                <c:ptCount val="2"/>
                <c:pt idx="0">
                  <c:v>0.83399999999999996</c:v>
                </c:pt>
                <c:pt idx="1">
                  <c:v>0.16600000000000001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125-4495-B0D4-70CCAB02C83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66"/>
      </c:doughnut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s-CO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 rot="0" vert="horz" anchor="b" anchorCtr="1"/>
    <a:lstStyle/>
    <a:p>
      <a:pPr>
        <a:defRPr>
          <a:solidFill>
            <a:schemeClr val="tx1"/>
          </a:solidFill>
        </a:defRPr>
      </a:pPr>
      <a:endParaRPr lang="es-CO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861045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17.png"/><Relationship Id="rId18" Type="http://schemas.openxmlformats.org/officeDocument/2006/relationships/image" Target="../media/image22.png"/><Relationship Id="rId3" Type="http://schemas.openxmlformats.org/officeDocument/2006/relationships/image" Target="../media/image7.png"/><Relationship Id="rId21" Type="http://schemas.openxmlformats.org/officeDocument/2006/relationships/image" Target="../media/image25.png"/><Relationship Id="rId7" Type="http://schemas.openxmlformats.org/officeDocument/2006/relationships/image" Target="../media/image11.png"/><Relationship Id="rId12" Type="http://schemas.openxmlformats.org/officeDocument/2006/relationships/image" Target="../media/image16.png"/><Relationship Id="rId17" Type="http://schemas.openxmlformats.org/officeDocument/2006/relationships/image" Target="../media/image21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20.png"/><Relationship Id="rId20" Type="http://schemas.openxmlformats.org/officeDocument/2006/relationships/image" Target="../media/image2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24" Type="http://schemas.openxmlformats.org/officeDocument/2006/relationships/image" Target="../media/image28.png"/><Relationship Id="rId5" Type="http://schemas.openxmlformats.org/officeDocument/2006/relationships/image" Target="../media/image9.png"/><Relationship Id="rId15" Type="http://schemas.openxmlformats.org/officeDocument/2006/relationships/image" Target="../media/image19.png"/><Relationship Id="rId23" Type="http://schemas.openxmlformats.org/officeDocument/2006/relationships/image" Target="../media/image27.png"/><Relationship Id="rId10" Type="http://schemas.openxmlformats.org/officeDocument/2006/relationships/image" Target="../media/image14.png"/><Relationship Id="rId19" Type="http://schemas.openxmlformats.org/officeDocument/2006/relationships/image" Target="../media/image23.png"/><Relationship Id="rId4" Type="http://schemas.openxmlformats.org/officeDocument/2006/relationships/image" Target="../media/image8.png"/><Relationship Id="rId9" Type="http://schemas.openxmlformats.org/officeDocument/2006/relationships/image" Target="../media/image13.png"/><Relationship Id="rId14" Type="http://schemas.openxmlformats.org/officeDocument/2006/relationships/image" Target="../media/image18.png"/><Relationship Id="rId22" Type="http://schemas.openxmlformats.org/officeDocument/2006/relationships/image" Target="../media/image26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7.png"/><Relationship Id="rId7" Type="http://schemas.openxmlformats.org/officeDocument/2006/relationships/image" Target="../media/image32.png"/><Relationship Id="rId12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.png"/><Relationship Id="rId11" Type="http://schemas.openxmlformats.org/officeDocument/2006/relationships/image" Target="../media/image36.png"/><Relationship Id="rId5" Type="http://schemas.openxmlformats.org/officeDocument/2006/relationships/image" Target="../media/image30.png"/><Relationship Id="rId10" Type="http://schemas.openxmlformats.org/officeDocument/2006/relationships/image" Target="../media/image35.png"/><Relationship Id="rId4" Type="http://schemas.openxmlformats.org/officeDocument/2006/relationships/image" Target="../media/image29.png"/><Relationship Id="rId9" Type="http://schemas.openxmlformats.org/officeDocument/2006/relationships/image" Target="../media/image3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3" Type="http://schemas.openxmlformats.org/officeDocument/2006/relationships/image" Target="../media/image37.png"/><Relationship Id="rId7" Type="http://schemas.openxmlformats.org/officeDocument/2006/relationships/image" Target="../media/image4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10" Type="http://schemas.openxmlformats.org/officeDocument/2006/relationships/image" Target="../media/image44.png"/><Relationship Id="rId4" Type="http://schemas.openxmlformats.org/officeDocument/2006/relationships/image" Target="../media/image38.png"/><Relationship Id="rId9" Type="http://schemas.openxmlformats.org/officeDocument/2006/relationships/image" Target="../media/image4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13" Type="http://schemas.openxmlformats.org/officeDocument/2006/relationships/image" Target="../media/image54.png"/><Relationship Id="rId3" Type="http://schemas.openxmlformats.org/officeDocument/2006/relationships/image" Target="../media/image7.png"/><Relationship Id="rId7" Type="http://schemas.openxmlformats.org/officeDocument/2006/relationships/image" Target="../media/image48.png"/><Relationship Id="rId12" Type="http://schemas.openxmlformats.org/officeDocument/2006/relationships/image" Target="../media/image5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7.png"/><Relationship Id="rId11" Type="http://schemas.openxmlformats.org/officeDocument/2006/relationships/image" Target="../media/image52.png"/><Relationship Id="rId5" Type="http://schemas.openxmlformats.org/officeDocument/2006/relationships/image" Target="../media/image46.png"/><Relationship Id="rId15" Type="http://schemas.openxmlformats.org/officeDocument/2006/relationships/image" Target="../media/image56.png"/><Relationship Id="rId10" Type="http://schemas.openxmlformats.org/officeDocument/2006/relationships/image" Target="../media/image51.png"/><Relationship Id="rId4" Type="http://schemas.openxmlformats.org/officeDocument/2006/relationships/image" Target="../media/image45.png"/><Relationship Id="rId9" Type="http://schemas.openxmlformats.org/officeDocument/2006/relationships/image" Target="../media/image50.png"/><Relationship Id="rId14" Type="http://schemas.openxmlformats.org/officeDocument/2006/relationships/image" Target="../media/image55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png"/><Relationship Id="rId13" Type="http://schemas.openxmlformats.org/officeDocument/2006/relationships/image" Target="../media/image66.png"/><Relationship Id="rId18" Type="http://schemas.openxmlformats.org/officeDocument/2006/relationships/image" Target="../media/image71.png"/><Relationship Id="rId3" Type="http://schemas.openxmlformats.org/officeDocument/2006/relationships/image" Target="../media/image7.png"/><Relationship Id="rId7" Type="http://schemas.openxmlformats.org/officeDocument/2006/relationships/image" Target="../media/image60.png"/><Relationship Id="rId12" Type="http://schemas.openxmlformats.org/officeDocument/2006/relationships/image" Target="../media/image65.png"/><Relationship Id="rId17" Type="http://schemas.openxmlformats.org/officeDocument/2006/relationships/image" Target="../media/image70.png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69.png"/><Relationship Id="rId20" Type="http://schemas.openxmlformats.org/officeDocument/2006/relationships/image" Target="../media/image7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9.png"/><Relationship Id="rId11" Type="http://schemas.openxmlformats.org/officeDocument/2006/relationships/image" Target="../media/image64.png"/><Relationship Id="rId5" Type="http://schemas.openxmlformats.org/officeDocument/2006/relationships/image" Target="../media/image58.png"/><Relationship Id="rId15" Type="http://schemas.openxmlformats.org/officeDocument/2006/relationships/image" Target="../media/image68.png"/><Relationship Id="rId10" Type="http://schemas.openxmlformats.org/officeDocument/2006/relationships/image" Target="../media/image63.png"/><Relationship Id="rId19" Type="http://schemas.openxmlformats.org/officeDocument/2006/relationships/image" Target="../media/image72.png"/><Relationship Id="rId4" Type="http://schemas.openxmlformats.org/officeDocument/2006/relationships/image" Target="../media/image57.png"/><Relationship Id="rId9" Type="http://schemas.openxmlformats.org/officeDocument/2006/relationships/image" Target="../media/image62.png"/><Relationship Id="rId14" Type="http://schemas.openxmlformats.org/officeDocument/2006/relationships/image" Target="../media/image67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8.png"/><Relationship Id="rId13" Type="http://schemas.openxmlformats.org/officeDocument/2006/relationships/image" Target="../media/image83.png"/><Relationship Id="rId3" Type="http://schemas.openxmlformats.org/officeDocument/2006/relationships/image" Target="../media/image7.png"/><Relationship Id="rId7" Type="http://schemas.openxmlformats.org/officeDocument/2006/relationships/image" Target="../media/image77.png"/><Relationship Id="rId12" Type="http://schemas.openxmlformats.org/officeDocument/2006/relationships/image" Target="../media/image8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6.png"/><Relationship Id="rId11" Type="http://schemas.openxmlformats.org/officeDocument/2006/relationships/image" Target="../media/image81.png"/><Relationship Id="rId5" Type="http://schemas.openxmlformats.org/officeDocument/2006/relationships/image" Target="../media/image75.png"/><Relationship Id="rId15" Type="http://schemas.openxmlformats.org/officeDocument/2006/relationships/image" Target="../media/image85.png"/><Relationship Id="rId10" Type="http://schemas.openxmlformats.org/officeDocument/2006/relationships/image" Target="../media/image80.png"/><Relationship Id="rId4" Type="http://schemas.openxmlformats.org/officeDocument/2006/relationships/image" Target="../media/image74.png"/><Relationship Id="rId9" Type="http://schemas.openxmlformats.org/officeDocument/2006/relationships/image" Target="../media/image79.png"/><Relationship Id="rId14" Type="http://schemas.openxmlformats.org/officeDocument/2006/relationships/image" Target="../media/image84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0.png"/><Relationship Id="rId3" Type="http://schemas.openxmlformats.org/officeDocument/2006/relationships/image" Target="../media/image7.png"/><Relationship Id="rId7" Type="http://schemas.openxmlformats.org/officeDocument/2006/relationships/image" Target="../media/image89.png"/><Relationship Id="rId12" Type="http://schemas.openxmlformats.org/officeDocument/2006/relationships/image" Target="../media/image9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8.png"/><Relationship Id="rId11" Type="http://schemas.openxmlformats.org/officeDocument/2006/relationships/image" Target="../media/image93.png"/><Relationship Id="rId5" Type="http://schemas.openxmlformats.org/officeDocument/2006/relationships/image" Target="../media/image87.png"/><Relationship Id="rId10" Type="http://schemas.openxmlformats.org/officeDocument/2006/relationships/image" Target="../media/image92.png"/><Relationship Id="rId4" Type="http://schemas.openxmlformats.org/officeDocument/2006/relationships/image" Target="../media/image86.png"/><Relationship Id="rId9" Type="http://schemas.openxmlformats.org/officeDocument/2006/relationships/image" Target="../media/image91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96.png"/><Relationship Id="rId3" Type="http://schemas.openxmlformats.org/officeDocument/2006/relationships/image" Target="../media/image3.png"/><Relationship Id="rId7" Type="http://schemas.openxmlformats.org/officeDocument/2006/relationships/image" Target="../media/image3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5.png"/><Relationship Id="rId11" Type="http://schemas.openxmlformats.org/officeDocument/2006/relationships/image" Target="../media/image99.png"/><Relationship Id="rId5" Type="http://schemas.openxmlformats.org/officeDocument/2006/relationships/image" Target="../media/image7.png"/><Relationship Id="rId10" Type="http://schemas.openxmlformats.org/officeDocument/2006/relationships/image" Target="../media/image98.png"/><Relationship Id="rId4" Type="http://schemas.openxmlformats.org/officeDocument/2006/relationships/image" Target="../media/image4.png"/><Relationship Id="rId9" Type="http://schemas.openxmlformats.org/officeDocument/2006/relationships/image" Target="../media/image9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K-1-img-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SK-1-img-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SK-1-img-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SK-1-img-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23929"/>
            <a:ext cx="12192000" cy="6858000"/>
          </a:xfrm>
          <a:prstGeom prst="rect">
            <a:avLst/>
          </a:prstGeom>
        </p:spPr>
      </p:pic>
      <p:pic>
        <p:nvPicPr>
          <p:cNvPr id="6" name="SK-1-img-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2500" y="4522143"/>
            <a:ext cx="1143000" cy="76200"/>
          </a:xfrm>
          <a:prstGeom prst="rect">
            <a:avLst/>
          </a:prstGeom>
        </p:spPr>
      </p:pic>
      <p:pic>
        <p:nvPicPr>
          <p:cNvPr id="7" name="SK-1-img-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63691" y="4522143"/>
            <a:ext cx="5975809" cy="2201912"/>
          </a:xfrm>
          <a:prstGeom prst="rect">
            <a:avLst/>
          </a:prstGeom>
        </p:spPr>
      </p:pic>
      <p:sp>
        <p:nvSpPr>
          <p:cNvPr id="8" name="SK-1-text-7"/>
          <p:cNvSpPr/>
          <p:nvPr/>
        </p:nvSpPr>
        <p:spPr>
          <a:xfrm>
            <a:off x="952500" y="609600"/>
            <a:ext cx="775716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s-CO" sz="2000" b="1" kern="0" spc="120" noProof="0" dirty="0">
                <a:solidFill>
                  <a:srgbClr val="006B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PROYECTO FINAL </a:t>
            </a:r>
            <a:r>
              <a:rPr lang="es-CO" sz="2000" b="1" kern="0" spc="120" noProof="0" dirty="0" err="1">
                <a:solidFill>
                  <a:srgbClr val="006B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Dataxperience</a:t>
            </a:r>
            <a:endParaRPr lang="es-CO" sz="2000" noProof="0" dirty="0"/>
          </a:p>
        </p:txBody>
      </p:sp>
      <p:sp>
        <p:nvSpPr>
          <p:cNvPr id="9" name="SK-1-text-8"/>
          <p:cNvSpPr/>
          <p:nvPr/>
        </p:nvSpPr>
        <p:spPr>
          <a:xfrm>
            <a:off x="952500" y="990600"/>
            <a:ext cx="6172200" cy="201141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5280"/>
              </a:lnSpc>
              <a:buNone/>
            </a:pPr>
            <a:r>
              <a:rPr lang="es-CO" sz="4800" b="1" noProof="0" dirty="0">
                <a:solidFill>
                  <a:srgbClr val="1A1C1E"/>
                </a:solidFill>
              </a:rPr>
              <a:t>Predicción de Rotación de Empleados</a:t>
            </a:r>
            <a:endParaRPr lang="es-CO" sz="4800" noProof="0" dirty="0"/>
          </a:p>
        </p:txBody>
      </p:sp>
      <p:sp>
        <p:nvSpPr>
          <p:cNvPr id="10" name="SK-1-text-9"/>
          <p:cNvSpPr/>
          <p:nvPr/>
        </p:nvSpPr>
        <p:spPr>
          <a:xfrm>
            <a:off x="952500" y="3268712"/>
            <a:ext cx="6172200" cy="64383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535"/>
              </a:lnSpc>
              <a:buNone/>
            </a:pPr>
            <a:r>
              <a:rPr lang="es-CO" sz="1950" noProof="0" dirty="0">
                <a:solidFill>
                  <a:srgbClr val="444B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Identificación de factores críticos de la rotación de empleados</a:t>
            </a:r>
          </a:p>
        </p:txBody>
      </p:sp>
      <p:sp>
        <p:nvSpPr>
          <p:cNvPr id="12" name="SK-1-text-11"/>
          <p:cNvSpPr/>
          <p:nvPr/>
        </p:nvSpPr>
        <p:spPr>
          <a:xfrm>
            <a:off x="7860632" y="4564528"/>
            <a:ext cx="3086100" cy="53660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r">
              <a:lnSpc>
                <a:spcPts val="1680"/>
              </a:lnSpc>
              <a:buNone/>
            </a:pPr>
            <a:r>
              <a:rPr lang="es-CO" noProof="0" dirty="0">
                <a:solidFill>
                  <a:srgbClr val="444B50"/>
                </a:solidFill>
                <a:latin typeface="Inter" pitchFamily="34" charset="0"/>
              </a:rPr>
              <a:t>Ana Victoria Gamboa</a:t>
            </a:r>
            <a:endParaRPr lang="es-CO" noProof="0" dirty="0"/>
          </a:p>
        </p:txBody>
      </p:sp>
      <p:sp>
        <p:nvSpPr>
          <p:cNvPr id="13" name="SK-1-text-12"/>
          <p:cNvSpPr/>
          <p:nvPr/>
        </p:nvSpPr>
        <p:spPr>
          <a:xfrm>
            <a:off x="8496300" y="6338867"/>
            <a:ext cx="2514600" cy="21327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r">
              <a:lnSpc>
                <a:spcPts val="1680"/>
              </a:lnSpc>
              <a:buNone/>
            </a:pPr>
            <a:r>
              <a:rPr lang="es-CO" noProof="0" dirty="0">
                <a:solidFill>
                  <a:srgbClr val="444B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18 de agosto de 2026</a:t>
            </a:r>
            <a:endParaRPr lang="es-CO" noProof="0" dirty="0"/>
          </a:p>
        </p:txBody>
      </p:sp>
      <p:sp>
        <p:nvSpPr>
          <p:cNvPr id="14" name="SK-1-text-13"/>
          <p:cNvSpPr/>
          <p:nvPr/>
        </p:nvSpPr>
        <p:spPr>
          <a:xfrm>
            <a:off x="8496300" y="6586984"/>
            <a:ext cx="2514600" cy="21327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r">
              <a:lnSpc>
                <a:spcPts val="1680"/>
              </a:lnSpc>
              <a:buNone/>
            </a:pPr>
            <a:endParaRPr lang="es-CO" sz="1200" noProof="0" dirty="0"/>
          </a:p>
        </p:txBody>
      </p:sp>
      <p:sp>
        <p:nvSpPr>
          <p:cNvPr id="15" name="SK-1-text-11">
            <a:extLst>
              <a:ext uri="{FF2B5EF4-FFF2-40B4-BE49-F238E27FC236}">
                <a16:creationId xmlns:a16="http://schemas.microsoft.com/office/drawing/2014/main" id="{3D358DAB-D29F-358E-D7D7-350351CB0FFE}"/>
              </a:ext>
            </a:extLst>
          </p:cNvPr>
          <p:cNvSpPr/>
          <p:nvPr/>
        </p:nvSpPr>
        <p:spPr>
          <a:xfrm>
            <a:off x="8432132" y="5210844"/>
            <a:ext cx="2514600" cy="21327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r">
              <a:lnSpc>
                <a:spcPts val="1680"/>
              </a:lnSpc>
              <a:buNone/>
            </a:pPr>
            <a:r>
              <a:rPr lang="es-CO" dirty="0">
                <a:solidFill>
                  <a:srgbClr val="444B50"/>
                </a:solidFill>
                <a:latin typeface="Inter" pitchFamily="34" charset="0"/>
              </a:rPr>
              <a:t>Universidad EAN</a:t>
            </a:r>
            <a:endParaRPr lang="es-CO" noProof="0" dirty="0"/>
          </a:p>
        </p:txBody>
      </p:sp>
      <p:sp>
        <p:nvSpPr>
          <p:cNvPr id="17" name="SK-1-text-11">
            <a:extLst>
              <a:ext uri="{FF2B5EF4-FFF2-40B4-BE49-F238E27FC236}">
                <a16:creationId xmlns:a16="http://schemas.microsoft.com/office/drawing/2014/main" id="{BBD388CC-4DC6-5B7F-145F-8B5DBAE888BD}"/>
              </a:ext>
            </a:extLst>
          </p:cNvPr>
          <p:cNvSpPr/>
          <p:nvPr/>
        </p:nvSpPr>
        <p:spPr>
          <a:xfrm>
            <a:off x="8432132" y="5820795"/>
            <a:ext cx="2514600" cy="21327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r">
              <a:lnSpc>
                <a:spcPts val="1680"/>
              </a:lnSpc>
              <a:buNone/>
            </a:pPr>
            <a:r>
              <a:rPr lang="es-CO" noProof="0" dirty="0" err="1">
                <a:solidFill>
                  <a:srgbClr val="444B50"/>
                </a:solidFill>
                <a:latin typeface="Inter" pitchFamily="34" charset="0"/>
              </a:rPr>
              <a:t>Dataxperience</a:t>
            </a:r>
            <a:endParaRPr lang="es-CO" noProof="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SK-2-img-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381000"/>
            <a:ext cx="11049000" cy="664815"/>
          </a:xfrm>
          <a:prstGeom prst="rect">
            <a:avLst/>
          </a:prstGeom>
        </p:spPr>
      </p:pic>
      <p:pic>
        <p:nvPicPr>
          <p:cNvPr id="5" name="SK-2-img-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1274415"/>
            <a:ext cx="5429250" cy="2144167"/>
          </a:xfrm>
          <a:prstGeom prst="rect">
            <a:avLst/>
          </a:prstGeom>
        </p:spPr>
      </p:pic>
      <p:pic>
        <p:nvPicPr>
          <p:cNvPr id="6" name="SK-2-img-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551932"/>
            <a:ext cx="5429250" cy="1879253"/>
          </a:xfrm>
          <a:prstGeom prst="rect">
            <a:avLst/>
          </a:prstGeom>
        </p:spPr>
      </p:pic>
      <p:pic>
        <p:nvPicPr>
          <p:cNvPr id="7" name="SK-2-img-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2950" y="3932932"/>
            <a:ext cx="390525" cy="276225"/>
          </a:xfrm>
          <a:prstGeom prst="rect">
            <a:avLst/>
          </a:prstGeom>
        </p:spPr>
      </p:pic>
      <p:pic>
        <p:nvPicPr>
          <p:cNvPr id="8" name="SK-2-img-7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2950" y="4285357"/>
            <a:ext cx="1207294" cy="242888"/>
          </a:xfrm>
          <a:prstGeom prst="rect">
            <a:avLst/>
          </a:prstGeom>
        </p:spPr>
      </p:pic>
      <p:pic>
        <p:nvPicPr>
          <p:cNvPr id="9" name="SK-2-img-8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8200" y="4358134"/>
            <a:ext cx="130969" cy="110728"/>
          </a:xfrm>
          <a:prstGeom prst="rect">
            <a:avLst/>
          </a:prstGeom>
        </p:spPr>
      </p:pic>
      <p:pic>
        <p:nvPicPr>
          <p:cNvPr id="10" name="SK-2-img-9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045494" y="4285357"/>
            <a:ext cx="1340644" cy="242888"/>
          </a:xfrm>
          <a:prstGeom prst="rect">
            <a:avLst/>
          </a:prstGeom>
        </p:spPr>
      </p:pic>
      <p:pic>
        <p:nvPicPr>
          <p:cNvPr id="11" name="SK-2-img-10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140744" y="4358134"/>
            <a:ext cx="130969" cy="110728"/>
          </a:xfrm>
          <a:prstGeom prst="rect">
            <a:avLst/>
          </a:prstGeom>
        </p:spPr>
      </p:pic>
      <p:pic>
        <p:nvPicPr>
          <p:cNvPr id="12" name="SK-2-img-11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191250" y="1274415"/>
            <a:ext cx="5429250" cy="238125"/>
          </a:xfrm>
          <a:prstGeom prst="rect">
            <a:avLst/>
          </a:prstGeom>
        </p:spPr>
      </p:pic>
      <p:pic>
        <p:nvPicPr>
          <p:cNvPr id="13" name="SK-2-img-12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191250" y="1645890"/>
            <a:ext cx="5429250" cy="789384"/>
          </a:xfrm>
          <a:prstGeom prst="rect">
            <a:avLst/>
          </a:prstGeom>
        </p:spPr>
      </p:pic>
      <p:pic>
        <p:nvPicPr>
          <p:cNvPr id="14" name="SK-2-img-13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324600" y="1760190"/>
            <a:ext cx="323850" cy="323850"/>
          </a:xfrm>
          <a:prstGeom prst="rect">
            <a:avLst/>
          </a:prstGeom>
        </p:spPr>
      </p:pic>
      <p:pic>
        <p:nvPicPr>
          <p:cNvPr id="15" name="SK-2-img-14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391275" y="1842790"/>
            <a:ext cx="190500" cy="158651"/>
          </a:xfrm>
          <a:prstGeom prst="rect">
            <a:avLst/>
          </a:prstGeom>
        </p:spPr>
      </p:pic>
      <p:pic>
        <p:nvPicPr>
          <p:cNvPr id="16" name="SK-2-img-15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191250" y="2530525"/>
            <a:ext cx="5429250" cy="789384"/>
          </a:xfrm>
          <a:prstGeom prst="rect">
            <a:avLst/>
          </a:prstGeom>
        </p:spPr>
      </p:pic>
      <p:pic>
        <p:nvPicPr>
          <p:cNvPr id="17" name="SK-2-img-16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324600" y="2644825"/>
            <a:ext cx="323850" cy="323850"/>
          </a:xfrm>
          <a:prstGeom prst="rect">
            <a:avLst/>
          </a:prstGeom>
        </p:spPr>
      </p:pic>
      <p:pic>
        <p:nvPicPr>
          <p:cNvPr id="18" name="SK-2-img-17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391275" y="2727424"/>
            <a:ext cx="190500" cy="158651"/>
          </a:xfrm>
          <a:prstGeom prst="rect">
            <a:avLst/>
          </a:prstGeom>
        </p:spPr>
      </p:pic>
      <p:pic>
        <p:nvPicPr>
          <p:cNvPr id="19" name="SK-2-img-18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191250" y="3415159"/>
            <a:ext cx="5429250" cy="789384"/>
          </a:xfrm>
          <a:prstGeom prst="rect">
            <a:avLst/>
          </a:prstGeom>
        </p:spPr>
      </p:pic>
      <p:pic>
        <p:nvPicPr>
          <p:cNvPr id="20" name="SK-2-img-19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324600" y="3529459"/>
            <a:ext cx="323850" cy="323850"/>
          </a:xfrm>
          <a:prstGeom prst="rect">
            <a:avLst/>
          </a:prstGeom>
        </p:spPr>
      </p:pic>
      <p:pic>
        <p:nvPicPr>
          <p:cNvPr id="21" name="SK-2-img-20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391275" y="3612059"/>
            <a:ext cx="190500" cy="158651"/>
          </a:xfrm>
          <a:prstGeom prst="rect">
            <a:avLst/>
          </a:prstGeom>
        </p:spPr>
      </p:pic>
      <p:pic>
        <p:nvPicPr>
          <p:cNvPr id="22" name="SK-2-img-21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191250" y="4299793"/>
            <a:ext cx="5429250" cy="789384"/>
          </a:xfrm>
          <a:prstGeom prst="rect">
            <a:avLst/>
          </a:prstGeom>
        </p:spPr>
      </p:pic>
      <p:pic>
        <p:nvPicPr>
          <p:cNvPr id="23" name="SK-2-img-22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324600" y="4414093"/>
            <a:ext cx="323850" cy="323850"/>
          </a:xfrm>
          <a:prstGeom prst="rect">
            <a:avLst/>
          </a:prstGeom>
        </p:spPr>
      </p:pic>
      <p:pic>
        <p:nvPicPr>
          <p:cNvPr id="24" name="SK-2-img-23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391275" y="4496693"/>
            <a:ext cx="190500" cy="158651"/>
          </a:xfrm>
          <a:prstGeom prst="rect">
            <a:avLst/>
          </a:prstGeom>
        </p:spPr>
      </p:pic>
      <p:pic>
        <p:nvPicPr>
          <p:cNvPr id="25" name="SK-2-img-24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47700" y="5635824"/>
            <a:ext cx="11049000" cy="628650"/>
          </a:xfrm>
          <a:prstGeom prst="rect">
            <a:avLst/>
          </a:prstGeom>
        </p:spPr>
      </p:pic>
      <p:pic>
        <p:nvPicPr>
          <p:cNvPr id="26" name="SK-2-img-25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819064" y="5844033"/>
            <a:ext cx="210443" cy="172045"/>
          </a:xfrm>
          <a:prstGeom prst="rect">
            <a:avLst/>
          </a:prstGeom>
        </p:spPr>
      </p:pic>
      <p:sp>
        <p:nvSpPr>
          <p:cNvPr id="27" name="SK-2-text-26"/>
          <p:cNvSpPr/>
          <p:nvPr/>
        </p:nvSpPr>
        <p:spPr>
          <a:xfrm>
            <a:off x="762000" y="381000"/>
            <a:ext cx="10934700" cy="2000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1800"/>
              </a:lnSpc>
            </a:pPr>
            <a:r>
              <a:rPr lang="es-CO" sz="1050" b="1" kern="0" spc="120" dirty="0">
                <a:solidFill>
                  <a:srgbClr val="006B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PROYECTO FINAL </a:t>
            </a:r>
            <a:r>
              <a:rPr lang="es-CO" sz="1050" b="1" kern="0" spc="120" dirty="0" err="1">
                <a:solidFill>
                  <a:srgbClr val="006B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Dataxperience</a:t>
            </a:r>
            <a:endParaRPr lang="es-CO" sz="1050" dirty="0"/>
          </a:p>
        </p:txBody>
      </p:sp>
      <p:sp>
        <p:nvSpPr>
          <p:cNvPr id="28" name="SK-2-text-27"/>
          <p:cNvSpPr/>
          <p:nvPr/>
        </p:nvSpPr>
        <p:spPr>
          <a:xfrm>
            <a:off x="762000" y="657225"/>
            <a:ext cx="11430000" cy="38859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3060"/>
              </a:lnSpc>
              <a:buNone/>
            </a:pPr>
            <a:r>
              <a:rPr lang="es-CO" sz="2550" b="1" noProof="0" dirty="0">
                <a:solidFill>
                  <a:srgbClr val="1A1C1E"/>
                </a:solidFill>
              </a:rPr>
              <a:t>Contexto y Objetivos del Proyecto</a:t>
            </a:r>
            <a:endParaRPr lang="es-CO" sz="2550" noProof="0" dirty="0"/>
          </a:p>
        </p:txBody>
      </p:sp>
      <p:sp>
        <p:nvSpPr>
          <p:cNvPr id="29" name="SK-2-text-28"/>
          <p:cNvSpPr/>
          <p:nvPr/>
        </p:nvSpPr>
        <p:spPr>
          <a:xfrm>
            <a:off x="742950" y="1426815"/>
            <a:ext cx="5162550" cy="1714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s-CO" sz="900" b="1" kern="0" spc="48" noProof="0" dirty="0">
                <a:solidFill>
                  <a:srgbClr val="006B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PROBLEMA DE NEGOCIO</a:t>
            </a:r>
            <a:endParaRPr lang="es-CO" sz="900" noProof="0" dirty="0"/>
          </a:p>
        </p:txBody>
      </p:sp>
      <p:sp>
        <p:nvSpPr>
          <p:cNvPr id="30" name="SK-2-text-29"/>
          <p:cNvSpPr/>
          <p:nvPr/>
        </p:nvSpPr>
        <p:spPr>
          <a:xfrm>
            <a:off x="742950" y="1674465"/>
            <a:ext cx="5086350" cy="121443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913"/>
              </a:lnSpc>
              <a:buNone/>
            </a:pPr>
            <a:r>
              <a:rPr lang="es-CO" sz="1275" noProof="0" dirty="0">
                <a:solidFill>
                  <a:srgbClr val="444B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empresa </a:t>
            </a:r>
            <a:r>
              <a:rPr lang="es-CO" sz="1275" dirty="0">
                <a:solidFill>
                  <a:srgbClr val="444B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ABC </a:t>
            </a:r>
            <a:r>
              <a:rPr lang="es-CO" sz="1275" noProof="0" dirty="0">
                <a:solidFill>
                  <a:srgbClr val="444B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enfrenta pérdidas de talento que generan costos en reclutamiento, capacitación y productividad. Se requiere un modelo de </a:t>
            </a:r>
            <a:r>
              <a:rPr lang="es-CO" sz="1275" b="1" noProof="0" dirty="0">
                <a:solidFill>
                  <a:srgbClr val="1A1C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clasificación </a:t>
            </a:r>
            <a:r>
              <a:rPr lang="es-CO" sz="1275" noProof="0" dirty="0">
                <a:solidFill>
                  <a:srgbClr val="444B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que identifique los factores asociados a la rotación y permita anticipar qué empleados están en riesgo de abandonar la organización.</a:t>
            </a:r>
            <a:endParaRPr lang="es-CO" sz="1275" noProof="0" dirty="0"/>
          </a:p>
        </p:txBody>
      </p:sp>
      <p:sp>
        <p:nvSpPr>
          <p:cNvPr id="31" name="SK-2-text-30"/>
          <p:cNvSpPr/>
          <p:nvPr/>
        </p:nvSpPr>
        <p:spPr>
          <a:xfrm>
            <a:off x="742950" y="3685282"/>
            <a:ext cx="5162550" cy="1714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s-CO" sz="900" b="1" kern="0" spc="48" noProof="0" dirty="0">
                <a:solidFill>
                  <a:srgbClr val="6C767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VARIABLE OBJETIVO DEL MODELO</a:t>
            </a:r>
            <a:endParaRPr lang="es-CO" sz="900" noProof="0" dirty="0"/>
          </a:p>
        </p:txBody>
      </p:sp>
      <p:sp>
        <p:nvSpPr>
          <p:cNvPr id="32" name="SK-2-text-31"/>
          <p:cNvSpPr/>
          <p:nvPr/>
        </p:nvSpPr>
        <p:spPr>
          <a:xfrm>
            <a:off x="838200" y="3932932"/>
            <a:ext cx="404046" cy="276225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s-CO" sz="1050" b="1" noProof="0" dirty="0" err="1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left</a:t>
            </a:r>
            <a:endParaRPr lang="es-CO" sz="1050" noProof="0" dirty="0"/>
          </a:p>
        </p:txBody>
      </p:sp>
      <p:sp>
        <p:nvSpPr>
          <p:cNvPr id="33" name="SK-2-text-32"/>
          <p:cNvSpPr/>
          <p:nvPr/>
        </p:nvSpPr>
        <p:spPr>
          <a:xfrm>
            <a:off x="1247775" y="3971032"/>
            <a:ext cx="7105650" cy="2000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s-CO" sz="1125" noProof="0" dirty="0">
                <a:solidFill>
                  <a:srgbClr val="444B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Indica si el empleado abandonó la empresa</a:t>
            </a:r>
            <a:endParaRPr lang="es-CO" sz="1125" noProof="0" dirty="0"/>
          </a:p>
        </p:txBody>
      </p:sp>
      <p:sp>
        <p:nvSpPr>
          <p:cNvPr id="34" name="SK-2-text-33"/>
          <p:cNvSpPr/>
          <p:nvPr/>
        </p:nvSpPr>
        <p:spPr>
          <a:xfrm>
            <a:off x="1016794" y="4285357"/>
            <a:ext cx="1585155" cy="24288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463"/>
              </a:lnSpc>
              <a:buNone/>
            </a:pPr>
            <a:r>
              <a:rPr lang="es-CO" sz="975" noProof="0" dirty="0">
                <a:solidFill>
                  <a:srgbClr val="444B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 — Abandonó</a:t>
            </a:r>
            <a:endParaRPr lang="es-CO" sz="975" noProof="0" dirty="0"/>
          </a:p>
        </p:txBody>
      </p:sp>
      <p:sp>
        <p:nvSpPr>
          <p:cNvPr id="35" name="SK-2-text-34"/>
          <p:cNvSpPr/>
          <p:nvPr/>
        </p:nvSpPr>
        <p:spPr>
          <a:xfrm>
            <a:off x="2319338" y="4285357"/>
            <a:ext cx="1869648" cy="24288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463"/>
              </a:lnSpc>
              <a:buNone/>
            </a:pPr>
            <a:r>
              <a:rPr lang="es-CO" sz="975" noProof="0" dirty="0">
                <a:solidFill>
                  <a:srgbClr val="444B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 — Permaneció</a:t>
            </a:r>
            <a:endParaRPr lang="es-CO" sz="975" noProof="0" dirty="0"/>
          </a:p>
        </p:txBody>
      </p:sp>
      <p:sp>
        <p:nvSpPr>
          <p:cNvPr id="36" name="SK-2-text-35"/>
          <p:cNvSpPr/>
          <p:nvPr/>
        </p:nvSpPr>
        <p:spPr>
          <a:xfrm>
            <a:off x="6191250" y="1274415"/>
            <a:ext cx="5505450" cy="2381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s-CO" sz="1050" b="1" kern="0" spc="48" noProof="0" dirty="0">
                <a:solidFill>
                  <a:srgbClr val="6C767E"/>
                </a:solidFill>
              </a:rPr>
              <a:t>OBJETIVOS DEL PROYECTO</a:t>
            </a:r>
            <a:endParaRPr lang="es-CO" sz="1050" noProof="0" dirty="0"/>
          </a:p>
        </p:txBody>
      </p:sp>
      <p:sp>
        <p:nvSpPr>
          <p:cNvPr id="37" name="SK-2-text-36"/>
          <p:cNvSpPr/>
          <p:nvPr/>
        </p:nvSpPr>
        <p:spPr>
          <a:xfrm>
            <a:off x="6762750" y="1760190"/>
            <a:ext cx="5429250" cy="18573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463"/>
              </a:lnSpc>
              <a:buNone/>
            </a:pPr>
            <a:r>
              <a:rPr lang="es-CO" sz="1125" b="1" noProof="0" dirty="0">
                <a:solidFill>
                  <a:srgbClr val="1A1C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Identificar factores de rotación</a:t>
            </a:r>
            <a:endParaRPr lang="es-CO" sz="1125" noProof="0" dirty="0"/>
          </a:p>
        </p:txBody>
      </p:sp>
      <p:sp>
        <p:nvSpPr>
          <p:cNvPr id="38" name="SK-2-text-37"/>
          <p:cNvSpPr/>
          <p:nvPr/>
        </p:nvSpPr>
        <p:spPr>
          <a:xfrm>
            <a:off x="6762750" y="1974503"/>
            <a:ext cx="4724400" cy="34647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365"/>
              </a:lnSpc>
              <a:buNone/>
            </a:pPr>
            <a:r>
              <a:rPr lang="es-CO" sz="975" noProof="0" dirty="0">
                <a:solidFill>
                  <a:srgbClr val="6C767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Analizar variables de satisfacción, carga laboral, antigüedad y desempeño para detectar patrones de salida.</a:t>
            </a:r>
            <a:endParaRPr lang="es-CO" sz="975" noProof="0" dirty="0"/>
          </a:p>
        </p:txBody>
      </p:sp>
      <p:sp>
        <p:nvSpPr>
          <p:cNvPr id="39" name="SK-2-text-38"/>
          <p:cNvSpPr/>
          <p:nvPr/>
        </p:nvSpPr>
        <p:spPr>
          <a:xfrm>
            <a:off x="6762750" y="2644825"/>
            <a:ext cx="5429250" cy="18573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463"/>
              </a:lnSpc>
              <a:buNone/>
            </a:pPr>
            <a:r>
              <a:rPr lang="es-CO" sz="1125" b="1" noProof="0" dirty="0">
                <a:solidFill>
                  <a:srgbClr val="1A1C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Desarrollar un modelo predictivo</a:t>
            </a:r>
            <a:endParaRPr lang="es-CO" sz="1125" noProof="0" dirty="0"/>
          </a:p>
        </p:txBody>
      </p:sp>
      <p:sp>
        <p:nvSpPr>
          <p:cNvPr id="40" name="SK-2-text-39"/>
          <p:cNvSpPr/>
          <p:nvPr/>
        </p:nvSpPr>
        <p:spPr>
          <a:xfrm>
            <a:off x="6762750" y="2859137"/>
            <a:ext cx="4724400" cy="34647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365"/>
              </a:lnSpc>
              <a:buNone/>
            </a:pPr>
            <a:r>
              <a:rPr lang="es-CO" sz="975" noProof="0" dirty="0">
                <a:solidFill>
                  <a:srgbClr val="6C767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Comparar algoritmos de clasificación y seleccionar el de mayor desempeño para predecir empleados en riesgo.</a:t>
            </a:r>
            <a:endParaRPr lang="es-CO" sz="975" noProof="0" dirty="0"/>
          </a:p>
        </p:txBody>
      </p:sp>
      <p:sp>
        <p:nvSpPr>
          <p:cNvPr id="41" name="SK-2-text-40"/>
          <p:cNvSpPr/>
          <p:nvPr/>
        </p:nvSpPr>
        <p:spPr>
          <a:xfrm>
            <a:off x="6762750" y="3529459"/>
            <a:ext cx="5219700" cy="18573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463"/>
              </a:lnSpc>
              <a:buNone/>
            </a:pPr>
            <a:r>
              <a:rPr lang="es-CO" sz="1125" b="1" noProof="0" dirty="0">
                <a:solidFill>
                  <a:srgbClr val="1A1C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Traducir hallazgos en acciones</a:t>
            </a:r>
            <a:endParaRPr lang="es-CO" sz="1125" noProof="0" dirty="0"/>
          </a:p>
        </p:txBody>
      </p:sp>
      <p:sp>
        <p:nvSpPr>
          <p:cNvPr id="42" name="SK-2-text-41"/>
          <p:cNvSpPr/>
          <p:nvPr/>
        </p:nvSpPr>
        <p:spPr>
          <a:xfrm>
            <a:off x="6762750" y="3743771"/>
            <a:ext cx="4724400" cy="34647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365"/>
              </a:lnSpc>
              <a:buNone/>
            </a:pPr>
            <a:r>
              <a:rPr lang="es-CO" sz="975" noProof="0" dirty="0">
                <a:solidFill>
                  <a:srgbClr val="6C767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Convertir la importancia de variables del modelo en estrategias concretas.</a:t>
            </a:r>
            <a:endParaRPr lang="es-CO" sz="975" noProof="0" dirty="0"/>
          </a:p>
        </p:txBody>
      </p:sp>
      <p:sp>
        <p:nvSpPr>
          <p:cNvPr id="43" name="SK-2-text-42"/>
          <p:cNvSpPr/>
          <p:nvPr/>
        </p:nvSpPr>
        <p:spPr>
          <a:xfrm>
            <a:off x="6762750" y="4414093"/>
            <a:ext cx="5391150" cy="18573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463"/>
              </a:lnSpc>
              <a:buNone/>
            </a:pPr>
            <a:r>
              <a:rPr lang="es-CO" sz="1125" b="1" noProof="0" dirty="0">
                <a:solidFill>
                  <a:srgbClr val="1A1C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Diseñar validación experimental</a:t>
            </a:r>
            <a:endParaRPr lang="es-CO" sz="1125" noProof="0" dirty="0"/>
          </a:p>
        </p:txBody>
      </p:sp>
      <p:sp>
        <p:nvSpPr>
          <p:cNvPr id="44" name="SK-2-text-43"/>
          <p:cNvSpPr/>
          <p:nvPr/>
        </p:nvSpPr>
        <p:spPr>
          <a:xfrm>
            <a:off x="6762750" y="4628406"/>
            <a:ext cx="4724400" cy="34647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365"/>
              </a:lnSpc>
              <a:buNone/>
            </a:pPr>
            <a:r>
              <a:rPr lang="es-CO" sz="975" noProof="0" dirty="0">
                <a:solidFill>
                  <a:srgbClr val="6C767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Proponer un experimento A/B controlado y </a:t>
            </a:r>
            <a:r>
              <a:rPr lang="es-CO" sz="975" noProof="0" dirty="0" err="1">
                <a:solidFill>
                  <a:srgbClr val="6C767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KPIs</a:t>
            </a:r>
            <a:r>
              <a:rPr lang="es-CO" sz="975" noProof="0" dirty="0">
                <a:solidFill>
                  <a:srgbClr val="6C767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para medir el impacto real de las intervenciones de retención.</a:t>
            </a:r>
            <a:endParaRPr lang="es-CO" sz="975" noProof="0" dirty="0"/>
          </a:p>
        </p:txBody>
      </p:sp>
      <p:sp>
        <p:nvSpPr>
          <p:cNvPr id="45" name="SK-2-text-44"/>
          <p:cNvSpPr/>
          <p:nvPr/>
        </p:nvSpPr>
        <p:spPr>
          <a:xfrm>
            <a:off x="1143893" y="5730031"/>
            <a:ext cx="10248007" cy="4000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s-CO" sz="1125" b="1" noProof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Alcance del proyecto:</a:t>
            </a:r>
            <a:r>
              <a:rPr lang="es-CO" sz="1125" noProof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pasar de una gestión reactiva a una gestión </a:t>
            </a:r>
            <a:r>
              <a:rPr lang="es-CO" sz="1125" b="1" noProof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preventiva del talento</a:t>
            </a:r>
            <a:r>
              <a:rPr lang="es-CO" sz="1125" noProof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usando datos para anticipar la rotación antes de que ocurra.</a:t>
            </a:r>
            <a:endParaRPr lang="es-CO" sz="1125" noProof="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SK-3-img-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381000"/>
            <a:ext cx="11049000" cy="664815"/>
          </a:xfrm>
          <a:prstGeom prst="rect">
            <a:avLst/>
          </a:prstGeom>
        </p:spPr>
      </p:pic>
      <p:pic>
        <p:nvPicPr>
          <p:cNvPr id="5" name="SK-3-img-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1274415"/>
            <a:ext cx="4849118" cy="5202585"/>
          </a:xfrm>
          <a:prstGeom prst="rect">
            <a:avLst/>
          </a:prstGeom>
        </p:spPr>
      </p:pic>
      <p:pic>
        <p:nvPicPr>
          <p:cNvPr id="6" name="SK-3-img-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0100" y="1553021"/>
            <a:ext cx="457200" cy="457200"/>
          </a:xfrm>
          <a:prstGeom prst="rect">
            <a:avLst/>
          </a:prstGeom>
        </p:spPr>
      </p:pic>
      <p:pic>
        <p:nvPicPr>
          <p:cNvPr id="7" name="SK-3-img-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9638" y="1686371"/>
            <a:ext cx="238125" cy="190500"/>
          </a:xfrm>
          <a:prstGeom prst="rect">
            <a:avLst/>
          </a:prstGeom>
        </p:spPr>
      </p:pic>
      <p:pic>
        <p:nvPicPr>
          <p:cNvPr id="8" name="SK-3-img-7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0100" y="2262634"/>
            <a:ext cx="457200" cy="457200"/>
          </a:xfrm>
          <a:prstGeom prst="rect">
            <a:avLst/>
          </a:prstGeom>
        </p:spPr>
      </p:pic>
      <p:pic>
        <p:nvPicPr>
          <p:cNvPr id="9" name="SK-3-img-8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9638" y="2395984"/>
            <a:ext cx="238125" cy="190500"/>
          </a:xfrm>
          <a:prstGeom prst="rect">
            <a:avLst/>
          </a:prstGeom>
        </p:spPr>
      </p:pic>
      <p:pic>
        <p:nvPicPr>
          <p:cNvPr id="10" name="SK-3-img-9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0100" y="2972246"/>
            <a:ext cx="457200" cy="457200"/>
          </a:xfrm>
          <a:prstGeom prst="rect">
            <a:avLst/>
          </a:prstGeom>
        </p:spPr>
      </p:pic>
      <p:pic>
        <p:nvPicPr>
          <p:cNvPr id="11" name="SK-3-img-10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09638" y="3105596"/>
            <a:ext cx="238125" cy="190500"/>
          </a:xfrm>
          <a:prstGeom prst="rect">
            <a:avLst/>
          </a:prstGeom>
        </p:spPr>
      </p:pic>
      <p:pic>
        <p:nvPicPr>
          <p:cNvPr id="12" name="SK-3-img-11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0100" y="3875633"/>
            <a:ext cx="4391918" cy="1514475"/>
          </a:xfrm>
          <a:prstGeom prst="rect">
            <a:avLst/>
          </a:prstGeom>
        </p:spPr>
      </p:pic>
      <p:pic>
        <p:nvPicPr>
          <p:cNvPr id="13" name="SK-3-img-12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623818" y="1274415"/>
            <a:ext cx="6024631" cy="5325368"/>
          </a:xfrm>
          <a:prstGeom prst="rect">
            <a:avLst/>
          </a:prstGeom>
        </p:spPr>
      </p:pic>
      <p:sp>
        <p:nvSpPr>
          <p:cNvPr id="15" name="SK-3-text-14"/>
          <p:cNvSpPr/>
          <p:nvPr/>
        </p:nvSpPr>
        <p:spPr>
          <a:xfrm>
            <a:off x="762000" y="381000"/>
            <a:ext cx="10934700" cy="2000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1800"/>
              </a:lnSpc>
            </a:pPr>
            <a:r>
              <a:rPr lang="es-CO" sz="1050" b="1" kern="0" spc="120" dirty="0">
                <a:solidFill>
                  <a:srgbClr val="006B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PROYECTO FINAL </a:t>
            </a:r>
            <a:r>
              <a:rPr lang="es-CO" sz="1050" b="1" kern="0" spc="120" dirty="0" err="1">
                <a:solidFill>
                  <a:srgbClr val="006B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Dataxperience</a:t>
            </a:r>
            <a:endParaRPr lang="es-CO" sz="1050" dirty="0"/>
          </a:p>
        </p:txBody>
      </p:sp>
      <p:sp>
        <p:nvSpPr>
          <p:cNvPr id="16" name="SK-3-text-15"/>
          <p:cNvSpPr/>
          <p:nvPr/>
        </p:nvSpPr>
        <p:spPr>
          <a:xfrm>
            <a:off x="762000" y="657225"/>
            <a:ext cx="11430000" cy="38859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3060"/>
              </a:lnSpc>
              <a:buNone/>
            </a:pPr>
            <a:r>
              <a:rPr lang="es-CO" sz="2550" b="1" noProof="0" dirty="0">
                <a:solidFill>
                  <a:srgbClr val="1A1C1E"/>
                </a:solidFill>
              </a:rPr>
              <a:t>Datos y Calidad de la Información</a:t>
            </a:r>
            <a:endParaRPr lang="es-CO" sz="2550" noProof="0" dirty="0"/>
          </a:p>
        </p:txBody>
      </p:sp>
      <p:sp>
        <p:nvSpPr>
          <p:cNvPr id="17" name="SK-3-text-16"/>
          <p:cNvSpPr/>
          <p:nvPr/>
        </p:nvSpPr>
        <p:spPr>
          <a:xfrm>
            <a:off x="1409700" y="1503015"/>
            <a:ext cx="2674620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700"/>
              </a:lnSpc>
              <a:buNone/>
            </a:pPr>
            <a:r>
              <a:rPr lang="es-CO" sz="1800" b="1" noProof="0" dirty="0">
                <a:solidFill>
                  <a:srgbClr val="1A1C1E"/>
                </a:solidFill>
              </a:rPr>
              <a:t>11,991</a:t>
            </a:r>
            <a:endParaRPr lang="es-CO" sz="1800" noProof="0" dirty="0"/>
          </a:p>
        </p:txBody>
      </p:sp>
      <p:sp>
        <p:nvSpPr>
          <p:cNvPr id="18" name="SK-3-text-17"/>
          <p:cNvSpPr/>
          <p:nvPr/>
        </p:nvSpPr>
        <p:spPr>
          <a:xfrm>
            <a:off x="1409700" y="1845915"/>
            <a:ext cx="2990850" cy="2143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8"/>
              </a:lnSpc>
              <a:buNone/>
            </a:pPr>
            <a:r>
              <a:rPr lang="es-CO" sz="1125" noProof="0" dirty="0">
                <a:solidFill>
                  <a:srgbClr val="6C767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Registros totales</a:t>
            </a:r>
            <a:endParaRPr lang="es-CO" sz="1125" noProof="0" dirty="0"/>
          </a:p>
        </p:txBody>
      </p:sp>
      <p:sp>
        <p:nvSpPr>
          <p:cNvPr id="19" name="SK-3-text-18"/>
          <p:cNvSpPr/>
          <p:nvPr/>
        </p:nvSpPr>
        <p:spPr>
          <a:xfrm>
            <a:off x="1409700" y="2212628"/>
            <a:ext cx="1438275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700"/>
              </a:lnSpc>
              <a:buNone/>
            </a:pPr>
            <a:r>
              <a:rPr lang="es-CO" sz="1800" b="1" noProof="0" dirty="0">
                <a:solidFill>
                  <a:srgbClr val="1A1C1E"/>
                </a:solidFill>
              </a:rPr>
              <a:t>10</a:t>
            </a:r>
            <a:endParaRPr lang="es-CO" sz="1800" noProof="0" dirty="0"/>
          </a:p>
        </p:txBody>
      </p:sp>
      <p:sp>
        <p:nvSpPr>
          <p:cNvPr id="20" name="SK-3-text-19"/>
          <p:cNvSpPr/>
          <p:nvPr/>
        </p:nvSpPr>
        <p:spPr>
          <a:xfrm>
            <a:off x="1409700" y="2555528"/>
            <a:ext cx="3505200" cy="2143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8"/>
              </a:lnSpc>
              <a:buNone/>
            </a:pPr>
            <a:r>
              <a:rPr lang="es-CO" sz="1125" noProof="0" dirty="0">
                <a:solidFill>
                  <a:srgbClr val="6C767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Variables originales</a:t>
            </a:r>
            <a:endParaRPr lang="es-CO" sz="1125" noProof="0" dirty="0"/>
          </a:p>
        </p:txBody>
      </p:sp>
      <p:sp>
        <p:nvSpPr>
          <p:cNvPr id="21" name="SK-3-text-20"/>
          <p:cNvSpPr/>
          <p:nvPr/>
        </p:nvSpPr>
        <p:spPr>
          <a:xfrm>
            <a:off x="1409700" y="2922240"/>
            <a:ext cx="1952625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700"/>
              </a:lnSpc>
              <a:buNone/>
            </a:pPr>
            <a:r>
              <a:rPr lang="es-CO" sz="1800" b="1" noProof="0" dirty="0">
                <a:solidFill>
                  <a:srgbClr val="1A1C1E"/>
                </a:solidFill>
              </a:rPr>
              <a:t>0</a:t>
            </a:r>
            <a:endParaRPr lang="es-CO" sz="1800" noProof="0" dirty="0"/>
          </a:p>
        </p:txBody>
      </p:sp>
      <p:sp>
        <p:nvSpPr>
          <p:cNvPr id="22" name="SK-3-text-21"/>
          <p:cNvSpPr/>
          <p:nvPr/>
        </p:nvSpPr>
        <p:spPr>
          <a:xfrm>
            <a:off x="1409700" y="3265140"/>
            <a:ext cx="4705350" cy="2143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8"/>
              </a:lnSpc>
              <a:buNone/>
            </a:pPr>
            <a:r>
              <a:rPr lang="es-CO" sz="1125" noProof="0" dirty="0">
                <a:solidFill>
                  <a:srgbClr val="6C767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Valores nulos identificados</a:t>
            </a:r>
            <a:endParaRPr lang="es-CO" sz="1125" noProof="0" dirty="0"/>
          </a:p>
        </p:txBody>
      </p:sp>
      <p:sp>
        <p:nvSpPr>
          <p:cNvPr id="23" name="SK-3-text-22"/>
          <p:cNvSpPr/>
          <p:nvPr/>
        </p:nvSpPr>
        <p:spPr>
          <a:xfrm>
            <a:off x="990600" y="3990759"/>
            <a:ext cx="4087118" cy="2000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s-CO" sz="1050" b="1" noProof="0" dirty="0">
                <a:solidFill>
                  <a:srgbClr val="006B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INTEGRIDAD TÉCNICA</a:t>
            </a:r>
            <a:endParaRPr lang="es-CO" sz="1050" noProof="0" dirty="0"/>
          </a:p>
        </p:txBody>
      </p:sp>
      <p:sp>
        <p:nvSpPr>
          <p:cNvPr id="24" name="SK-3-text-23"/>
          <p:cNvSpPr/>
          <p:nvPr/>
        </p:nvSpPr>
        <p:spPr>
          <a:xfrm>
            <a:off x="990600" y="4314379"/>
            <a:ext cx="4010918" cy="8572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8"/>
              </a:lnSpc>
              <a:buNone/>
            </a:pPr>
            <a:r>
              <a:rPr lang="es-CO" sz="1125" noProof="0" dirty="0">
                <a:solidFill>
                  <a:srgbClr val="444B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 eliminaron 3,008 datos duplicados encontrados</a:t>
            </a:r>
            <a:endParaRPr lang="es-CO" sz="1125" noProof="0" dirty="0"/>
          </a:p>
        </p:txBody>
      </p:sp>
      <p:graphicFrame>
        <p:nvGraphicFramePr>
          <p:cNvPr id="25" name="Gráfico 24">
            <a:extLst>
              <a:ext uri="{FF2B5EF4-FFF2-40B4-BE49-F238E27FC236}">
                <a16:creationId xmlns:a16="http://schemas.microsoft.com/office/drawing/2014/main" id="{E486C72D-E2E2-231B-6BD1-90C3ABBF827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64669182"/>
              </p:ext>
            </p:extLst>
          </p:nvPr>
        </p:nvGraphicFramePr>
        <p:xfrm>
          <a:off x="4839368" y="1274340"/>
          <a:ext cx="7352632" cy="520258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2"/>
          </a:graphicData>
        </a:graphic>
      </p:graphicFrame>
      <p:sp>
        <p:nvSpPr>
          <p:cNvPr id="27" name="SK-1-text-11">
            <a:extLst>
              <a:ext uri="{FF2B5EF4-FFF2-40B4-BE49-F238E27FC236}">
                <a16:creationId xmlns:a16="http://schemas.microsoft.com/office/drawing/2014/main" id="{12EE6B6C-310E-7806-33E2-6AC0B857D7BE}"/>
              </a:ext>
            </a:extLst>
          </p:cNvPr>
          <p:cNvSpPr/>
          <p:nvPr/>
        </p:nvSpPr>
        <p:spPr>
          <a:xfrm>
            <a:off x="10505574" y="3993336"/>
            <a:ext cx="695826" cy="44089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r">
              <a:lnSpc>
                <a:spcPts val="1680"/>
              </a:lnSpc>
              <a:buNone/>
            </a:pPr>
            <a:r>
              <a:rPr lang="es-CO" sz="1600" noProof="0" dirty="0"/>
              <a:t>83,40%</a:t>
            </a:r>
          </a:p>
        </p:txBody>
      </p:sp>
      <p:sp>
        <p:nvSpPr>
          <p:cNvPr id="29" name="SK-1-text-11">
            <a:extLst>
              <a:ext uri="{FF2B5EF4-FFF2-40B4-BE49-F238E27FC236}">
                <a16:creationId xmlns:a16="http://schemas.microsoft.com/office/drawing/2014/main" id="{C1EA7BB2-5D39-299F-4A95-1462DB2C8845}"/>
              </a:ext>
            </a:extLst>
          </p:cNvPr>
          <p:cNvSpPr/>
          <p:nvPr/>
        </p:nvSpPr>
        <p:spPr>
          <a:xfrm>
            <a:off x="6528301" y="1839779"/>
            <a:ext cx="695826" cy="44089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r">
              <a:lnSpc>
                <a:spcPts val="1680"/>
              </a:lnSpc>
              <a:buNone/>
            </a:pPr>
            <a:r>
              <a:rPr lang="es-CO" sz="1600" noProof="0" dirty="0"/>
              <a:t>16,60%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SK-4-img-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47650"/>
            <a:ext cx="11049000" cy="1264890"/>
          </a:xfrm>
          <a:prstGeom prst="rect">
            <a:avLst/>
          </a:prstGeom>
        </p:spPr>
      </p:pic>
      <p:pic>
        <p:nvPicPr>
          <p:cNvPr id="5" name="SK-4-img-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1655415"/>
            <a:ext cx="4297710" cy="2447925"/>
          </a:xfrm>
          <a:prstGeom prst="rect">
            <a:avLst/>
          </a:prstGeom>
        </p:spPr>
      </p:pic>
      <p:pic>
        <p:nvPicPr>
          <p:cNvPr id="6" name="SK-4-img-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0" y="1779240"/>
            <a:ext cx="381000" cy="381000"/>
          </a:xfrm>
          <a:prstGeom prst="rect">
            <a:avLst/>
          </a:prstGeom>
        </p:spPr>
      </p:pic>
      <p:pic>
        <p:nvPicPr>
          <p:cNvPr id="7" name="SK-4-img-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5344" y="1882080"/>
            <a:ext cx="214313" cy="175320"/>
          </a:xfrm>
          <a:prstGeom prst="rect">
            <a:avLst/>
          </a:prstGeom>
        </p:spPr>
      </p:pic>
      <p:pic>
        <p:nvPicPr>
          <p:cNvPr id="8" name="SK-4-img-7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8650" y="4206180"/>
            <a:ext cx="4297710" cy="2383185"/>
          </a:xfrm>
          <a:prstGeom prst="rect">
            <a:avLst/>
          </a:prstGeom>
        </p:spPr>
      </p:pic>
      <p:pic>
        <p:nvPicPr>
          <p:cNvPr id="9" name="SK-4-img-8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0" y="4350990"/>
            <a:ext cx="381000" cy="381000"/>
          </a:xfrm>
          <a:prstGeom prst="rect">
            <a:avLst/>
          </a:prstGeom>
        </p:spPr>
      </p:pic>
      <p:pic>
        <p:nvPicPr>
          <p:cNvPr id="10" name="SK-4-img-9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5344" y="4453830"/>
            <a:ext cx="214313" cy="175320"/>
          </a:xfrm>
          <a:prstGeom prst="rect">
            <a:avLst/>
          </a:prstGeom>
        </p:spPr>
      </p:pic>
      <p:pic>
        <p:nvPicPr>
          <p:cNvPr id="11" name="SK-4-img-10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174010" y="1689646"/>
            <a:ext cx="6446490" cy="4572000"/>
          </a:xfrm>
          <a:prstGeom prst="rect">
            <a:avLst/>
          </a:prstGeom>
        </p:spPr>
      </p:pic>
      <p:pic>
        <p:nvPicPr>
          <p:cNvPr id="12" name="SK-4-img-11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288310" y="1803946"/>
            <a:ext cx="6200775" cy="4324350"/>
          </a:xfrm>
          <a:prstGeom prst="rect">
            <a:avLst/>
          </a:prstGeom>
        </p:spPr>
      </p:pic>
      <p:sp>
        <p:nvSpPr>
          <p:cNvPr id="13" name="SK-4-text-12"/>
          <p:cNvSpPr/>
          <p:nvPr/>
        </p:nvSpPr>
        <p:spPr>
          <a:xfrm>
            <a:off x="762000" y="247650"/>
            <a:ext cx="10934700" cy="2000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1800"/>
              </a:lnSpc>
            </a:pPr>
            <a:r>
              <a:rPr lang="es-CO" sz="1050" b="1" kern="0" spc="120" dirty="0">
                <a:solidFill>
                  <a:srgbClr val="006B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PROYECTO FINAL </a:t>
            </a:r>
            <a:r>
              <a:rPr lang="es-CO" sz="1050" b="1" kern="0" spc="120" dirty="0" err="1">
                <a:solidFill>
                  <a:srgbClr val="006B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Dataxperience</a:t>
            </a:r>
            <a:endParaRPr lang="es-CO" sz="1050" dirty="0"/>
          </a:p>
        </p:txBody>
      </p:sp>
      <p:sp>
        <p:nvSpPr>
          <p:cNvPr id="14" name="SK-4-text-13"/>
          <p:cNvSpPr/>
          <p:nvPr/>
        </p:nvSpPr>
        <p:spPr>
          <a:xfrm>
            <a:off x="762000" y="523875"/>
            <a:ext cx="11430000" cy="38859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3060"/>
              </a:lnSpc>
              <a:buNone/>
            </a:pPr>
            <a:r>
              <a:rPr lang="es-CO" sz="2550" b="1" noProof="0" dirty="0">
                <a:solidFill>
                  <a:srgbClr val="1A1C1E"/>
                </a:solidFill>
              </a:rPr>
              <a:t>Hallazgos del Análisis Exploratorio</a:t>
            </a:r>
            <a:endParaRPr lang="es-CO" sz="2550" noProof="0" dirty="0"/>
          </a:p>
        </p:txBody>
      </p:sp>
      <p:sp>
        <p:nvSpPr>
          <p:cNvPr id="15" name="SK-4-text-14"/>
          <p:cNvSpPr/>
          <p:nvPr/>
        </p:nvSpPr>
        <p:spPr>
          <a:xfrm>
            <a:off x="845344" y="998190"/>
            <a:ext cx="8572500" cy="4857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913"/>
              </a:lnSpc>
              <a:buNone/>
            </a:pPr>
            <a:r>
              <a:rPr lang="es-CO" sz="1275" noProof="0" dirty="0">
                <a:solidFill>
                  <a:srgbClr val="444B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Identificación de la satisfacción laboral y la carga de trabajo como factores críticos, mientras que el salario y el departamento muestran menor relevancia.</a:t>
            </a:r>
            <a:endParaRPr lang="es-CO" sz="1275" noProof="0" dirty="0"/>
          </a:p>
        </p:txBody>
      </p:sp>
      <p:sp>
        <p:nvSpPr>
          <p:cNvPr id="16" name="SK-4-text-15"/>
          <p:cNvSpPr/>
          <p:nvPr/>
        </p:nvSpPr>
        <p:spPr>
          <a:xfrm>
            <a:off x="1257300" y="1826865"/>
            <a:ext cx="4210050" cy="2857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250"/>
              </a:lnSpc>
              <a:buNone/>
            </a:pPr>
            <a:r>
              <a:rPr lang="es-CO" sz="1500" b="1" noProof="0" dirty="0">
                <a:solidFill>
                  <a:srgbClr val="1A1C1E"/>
                </a:solidFill>
              </a:rPr>
              <a:t>Perfiles de Riesgo</a:t>
            </a:r>
            <a:endParaRPr lang="es-CO" sz="1500" noProof="0" dirty="0"/>
          </a:p>
        </p:txBody>
      </p:sp>
      <p:sp>
        <p:nvSpPr>
          <p:cNvPr id="17" name="SK-4-text-16"/>
          <p:cNvSpPr/>
          <p:nvPr/>
        </p:nvSpPr>
        <p:spPr>
          <a:xfrm>
            <a:off x="952500" y="2236440"/>
            <a:ext cx="372621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800"/>
              </a:lnSpc>
              <a:buNone/>
            </a:pPr>
            <a:r>
              <a:rPr lang="es-CO" sz="1200" b="1" noProof="0" dirty="0">
                <a:solidFill>
                  <a:srgbClr val="444B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Sobrecarga:</a:t>
            </a:r>
            <a:r>
              <a:rPr lang="es-CO" sz="1200" noProof="0" dirty="0">
                <a:solidFill>
                  <a:srgbClr val="444B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Empleados con exceso de horas mensuales (&gt;250) y múltiples proyectos (6-7).</a:t>
            </a:r>
            <a:endParaRPr lang="es-CO" sz="1200" noProof="0" dirty="0"/>
          </a:p>
        </p:txBody>
      </p:sp>
      <p:sp>
        <p:nvSpPr>
          <p:cNvPr id="18" name="SK-4-text-17"/>
          <p:cNvSpPr/>
          <p:nvPr/>
        </p:nvSpPr>
        <p:spPr>
          <a:xfrm>
            <a:off x="952500" y="2741265"/>
            <a:ext cx="3726210" cy="685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800"/>
              </a:lnSpc>
              <a:buNone/>
            </a:pPr>
            <a:r>
              <a:rPr lang="es-CO" sz="1200" b="1" noProof="0" dirty="0">
                <a:solidFill>
                  <a:srgbClr val="444B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Subutilización:</a:t>
            </a:r>
            <a:r>
              <a:rPr lang="es-CO" sz="1200" noProof="0" dirty="0">
                <a:solidFill>
                  <a:srgbClr val="444B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Riesgo detectado en colaboradores con baja carga laboral y falta de retos.</a:t>
            </a:r>
            <a:endParaRPr lang="es-CO" sz="1200" noProof="0" dirty="0"/>
          </a:p>
        </p:txBody>
      </p:sp>
      <p:sp>
        <p:nvSpPr>
          <p:cNvPr id="19" name="SK-4-text-18"/>
          <p:cNvSpPr/>
          <p:nvPr/>
        </p:nvSpPr>
        <p:spPr>
          <a:xfrm>
            <a:off x="952500" y="3474690"/>
            <a:ext cx="372621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800"/>
              </a:lnSpc>
              <a:buNone/>
            </a:pPr>
            <a:r>
              <a:rPr lang="es-CO" sz="1200" b="1" noProof="0" dirty="0">
                <a:solidFill>
                  <a:srgbClr val="444B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Satisfacción:</a:t>
            </a:r>
            <a:r>
              <a:rPr lang="es-CO" sz="1200" noProof="0" dirty="0">
                <a:solidFill>
                  <a:srgbClr val="444B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Correlación directa entre baja satisfacción y probabilidad de abandono.</a:t>
            </a:r>
            <a:endParaRPr lang="es-CO" sz="1200" noProof="0" dirty="0"/>
          </a:p>
        </p:txBody>
      </p:sp>
      <p:sp>
        <p:nvSpPr>
          <p:cNvPr id="20" name="SK-4-text-19"/>
          <p:cNvSpPr/>
          <p:nvPr/>
        </p:nvSpPr>
        <p:spPr>
          <a:xfrm>
            <a:off x="1257300" y="4398615"/>
            <a:ext cx="4667250" cy="2857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250"/>
              </a:lnSpc>
              <a:buNone/>
            </a:pPr>
            <a:r>
              <a:rPr lang="es-CO" sz="1500" b="1" noProof="0" dirty="0">
                <a:solidFill>
                  <a:srgbClr val="1A1C1E"/>
                </a:solidFill>
              </a:rPr>
              <a:t>Factores Secundarios</a:t>
            </a:r>
            <a:endParaRPr lang="es-CO" sz="1500" noProof="0" dirty="0"/>
          </a:p>
        </p:txBody>
      </p:sp>
      <p:sp>
        <p:nvSpPr>
          <p:cNvPr id="21" name="SK-4-text-20"/>
          <p:cNvSpPr/>
          <p:nvPr/>
        </p:nvSpPr>
        <p:spPr>
          <a:xfrm>
            <a:off x="952500" y="4808190"/>
            <a:ext cx="372621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800"/>
              </a:lnSpc>
              <a:buNone/>
            </a:pPr>
            <a:r>
              <a:rPr lang="es-CO" sz="1200" b="1" noProof="0" dirty="0">
                <a:solidFill>
                  <a:srgbClr val="444B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Salario:</a:t>
            </a:r>
            <a:r>
              <a:rPr lang="es-CO" sz="1200" noProof="0" dirty="0">
                <a:solidFill>
                  <a:srgbClr val="444B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No aparece como el factor principal de rotación en el análisis de datos.</a:t>
            </a:r>
            <a:endParaRPr lang="es-CO" sz="1200" noProof="0" dirty="0"/>
          </a:p>
        </p:txBody>
      </p:sp>
      <p:sp>
        <p:nvSpPr>
          <p:cNvPr id="22" name="SK-4-text-21"/>
          <p:cNvSpPr/>
          <p:nvPr/>
        </p:nvSpPr>
        <p:spPr>
          <a:xfrm>
            <a:off x="952500" y="5313015"/>
            <a:ext cx="372621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800"/>
              </a:lnSpc>
              <a:buNone/>
            </a:pPr>
            <a:r>
              <a:rPr lang="es-CO" sz="1200" b="1" noProof="0" dirty="0">
                <a:solidFill>
                  <a:srgbClr val="444B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Departamento:</a:t>
            </a:r>
            <a:r>
              <a:rPr lang="es-CO" sz="1200" noProof="0" dirty="0">
                <a:solidFill>
                  <a:srgbClr val="444B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El fenómeno es transversal y no se concentra en una sola área.</a:t>
            </a:r>
            <a:endParaRPr lang="es-CO" sz="1200" noProof="0" dirty="0"/>
          </a:p>
        </p:txBody>
      </p:sp>
      <p:sp>
        <p:nvSpPr>
          <p:cNvPr id="23" name="SK-4-text-22"/>
          <p:cNvSpPr/>
          <p:nvPr/>
        </p:nvSpPr>
        <p:spPr>
          <a:xfrm>
            <a:off x="952500" y="5817840"/>
            <a:ext cx="372621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800"/>
              </a:lnSpc>
              <a:buNone/>
            </a:pPr>
            <a:r>
              <a:rPr lang="es-CO" sz="1200" b="1" noProof="0" dirty="0">
                <a:solidFill>
                  <a:srgbClr val="444B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Motivación:</a:t>
            </a:r>
            <a:r>
              <a:rPr lang="es-CO" sz="1200" noProof="0" dirty="0">
                <a:solidFill>
                  <a:srgbClr val="444B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El clima laboral y el desarrollo profesional pesan más que la compensación fija.</a:t>
            </a:r>
            <a:endParaRPr lang="es-CO" sz="1200" noProof="0" dirty="0"/>
          </a:p>
        </p:txBody>
      </p:sp>
      <p:sp>
        <p:nvSpPr>
          <p:cNvPr id="24" name="SK-4-text-23"/>
          <p:cNvSpPr/>
          <p:nvPr/>
        </p:nvSpPr>
        <p:spPr>
          <a:xfrm>
            <a:off x="5097810" y="6375946"/>
            <a:ext cx="6522690" cy="2000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r">
              <a:lnSpc>
                <a:spcPts val="1575"/>
              </a:lnSpc>
              <a:buNone/>
            </a:pPr>
            <a:r>
              <a:rPr lang="es-CO" sz="1050" i="1" noProof="0" dirty="0">
                <a:solidFill>
                  <a:srgbClr val="6C767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* Importancia relativa basada en patrones de correlación y frecuencia en el EDA.</a:t>
            </a:r>
            <a:endParaRPr lang="es-CO" sz="1050" noProof="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SK-5-img-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381000"/>
            <a:ext cx="11049000" cy="664815"/>
          </a:xfrm>
          <a:prstGeom prst="rect">
            <a:avLst/>
          </a:prstGeom>
        </p:spPr>
      </p:pic>
      <p:pic>
        <p:nvPicPr>
          <p:cNvPr id="5" name="SK-5-img-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1274415"/>
            <a:ext cx="3555950" cy="3705374"/>
          </a:xfrm>
          <a:prstGeom prst="rect">
            <a:avLst/>
          </a:prstGeom>
        </p:spPr>
      </p:pic>
      <p:pic>
        <p:nvPicPr>
          <p:cNvPr id="6" name="SK-5-img-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0100" y="1503015"/>
            <a:ext cx="419100" cy="419100"/>
          </a:xfrm>
          <a:prstGeom prst="rect">
            <a:avLst/>
          </a:prstGeom>
        </p:spPr>
      </p:pic>
      <p:pic>
        <p:nvPicPr>
          <p:cNvPr id="7" name="SK-5-img-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0588" y="1617315"/>
            <a:ext cx="238125" cy="190500"/>
          </a:xfrm>
          <a:prstGeom prst="rect">
            <a:avLst/>
          </a:prstGeom>
        </p:spPr>
      </p:pic>
      <p:pic>
        <p:nvPicPr>
          <p:cNvPr id="8" name="SK-5-img-7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17950" y="1274415"/>
            <a:ext cx="3555950" cy="3705374"/>
          </a:xfrm>
          <a:prstGeom prst="rect">
            <a:avLst/>
          </a:prstGeom>
        </p:spPr>
      </p:pic>
      <p:pic>
        <p:nvPicPr>
          <p:cNvPr id="9" name="SK-5-img-8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46550" y="1503015"/>
            <a:ext cx="419100" cy="419100"/>
          </a:xfrm>
          <a:prstGeom prst="rect">
            <a:avLst/>
          </a:prstGeom>
        </p:spPr>
      </p:pic>
      <p:pic>
        <p:nvPicPr>
          <p:cNvPr id="10" name="SK-5-img-9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37038" y="1617315"/>
            <a:ext cx="238125" cy="190500"/>
          </a:xfrm>
          <a:prstGeom prst="rect">
            <a:avLst/>
          </a:prstGeom>
        </p:spPr>
      </p:pic>
      <p:pic>
        <p:nvPicPr>
          <p:cNvPr id="11" name="SK-5-img-10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64401" y="1274415"/>
            <a:ext cx="3555950" cy="3705374"/>
          </a:xfrm>
          <a:prstGeom prst="rect">
            <a:avLst/>
          </a:prstGeom>
        </p:spPr>
      </p:pic>
      <p:pic>
        <p:nvPicPr>
          <p:cNvPr id="12" name="SK-5-img-11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293001" y="1503015"/>
            <a:ext cx="419100" cy="419100"/>
          </a:xfrm>
          <a:prstGeom prst="rect">
            <a:avLst/>
          </a:prstGeom>
        </p:spPr>
      </p:pic>
      <p:pic>
        <p:nvPicPr>
          <p:cNvPr id="13" name="SK-5-img-12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383488" y="1617315"/>
            <a:ext cx="238125" cy="190500"/>
          </a:xfrm>
          <a:prstGeom prst="rect">
            <a:avLst/>
          </a:prstGeom>
        </p:spPr>
      </p:pic>
      <p:pic>
        <p:nvPicPr>
          <p:cNvPr id="14" name="SK-5-img-13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293001" y="3827115"/>
            <a:ext cx="3098750" cy="261937"/>
          </a:xfrm>
          <a:prstGeom prst="rect">
            <a:avLst/>
          </a:prstGeom>
        </p:spPr>
      </p:pic>
      <p:pic>
        <p:nvPicPr>
          <p:cNvPr id="15" name="SK-5-img-14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71500" y="5529870"/>
            <a:ext cx="11049000" cy="620911"/>
          </a:xfrm>
          <a:prstGeom prst="rect">
            <a:avLst/>
          </a:prstGeom>
        </p:spPr>
      </p:pic>
      <p:pic>
        <p:nvPicPr>
          <p:cNvPr id="16" name="SK-5-img-15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23900" y="5787479"/>
            <a:ext cx="166688" cy="137220"/>
          </a:xfrm>
          <a:prstGeom prst="rect">
            <a:avLst/>
          </a:prstGeom>
        </p:spPr>
      </p:pic>
      <p:sp>
        <p:nvSpPr>
          <p:cNvPr id="17" name="SK-5-text-16"/>
          <p:cNvSpPr/>
          <p:nvPr/>
        </p:nvSpPr>
        <p:spPr>
          <a:xfrm>
            <a:off x="762000" y="381000"/>
            <a:ext cx="10934700" cy="2000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1800"/>
              </a:lnSpc>
            </a:pPr>
            <a:r>
              <a:rPr lang="es-CO" sz="1050" b="1" kern="0" spc="120" dirty="0">
                <a:solidFill>
                  <a:srgbClr val="006B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PROYECTO FINAL </a:t>
            </a:r>
            <a:r>
              <a:rPr lang="es-CO" sz="1050" b="1" kern="0" spc="120" dirty="0" err="1">
                <a:solidFill>
                  <a:srgbClr val="006B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Dataxperience</a:t>
            </a:r>
            <a:endParaRPr lang="es-CO" sz="1050" dirty="0"/>
          </a:p>
        </p:txBody>
      </p:sp>
      <p:sp>
        <p:nvSpPr>
          <p:cNvPr id="18" name="SK-5-text-17"/>
          <p:cNvSpPr/>
          <p:nvPr/>
        </p:nvSpPr>
        <p:spPr>
          <a:xfrm>
            <a:off x="762000" y="657225"/>
            <a:ext cx="11430000" cy="38859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3060"/>
              </a:lnSpc>
              <a:buNone/>
            </a:pPr>
            <a:r>
              <a:rPr lang="es-CO" sz="2550" b="1" noProof="0" dirty="0">
                <a:solidFill>
                  <a:srgbClr val="1A1C1E"/>
                </a:solidFill>
              </a:rPr>
              <a:t>Preparación de Datos y Modelado</a:t>
            </a:r>
            <a:endParaRPr lang="es-CO" sz="2550" noProof="0" dirty="0"/>
          </a:p>
        </p:txBody>
      </p:sp>
      <p:sp>
        <p:nvSpPr>
          <p:cNvPr id="19" name="SK-5-text-18"/>
          <p:cNvSpPr/>
          <p:nvPr/>
        </p:nvSpPr>
        <p:spPr>
          <a:xfrm>
            <a:off x="1333500" y="1569690"/>
            <a:ext cx="3752850" cy="2857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250"/>
              </a:lnSpc>
              <a:buNone/>
            </a:pPr>
            <a:r>
              <a:rPr lang="es-CO" sz="1500" b="1" noProof="0" dirty="0">
                <a:solidFill>
                  <a:srgbClr val="1A1C1E"/>
                </a:solidFill>
              </a:rPr>
              <a:t>Preprocesamiento</a:t>
            </a:r>
            <a:endParaRPr lang="es-CO" sz="1500" noProof="0" dirty="0"/>
          </a:p>
        </p:txBody>
      </p:sp>
      <p:sp>
        <p:nvSpPr>
          <p:cNvPr id="20" name="SK-5-text-19"/>
          <p:cNvSpPr/>
          <p:nvPr/>
        </p:nvSpPr>
        <p:spPr>
          <a:xfrm>
            <a:off x="1028700" y="2074515"/>
            <a:ext cx="2870150" cy="685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800"/>
              </a:lnSpc>
              <a:buNone/>
            </a:pPr>
            <a:r>
              <a:rPr lang="es-CO" sz="1200" b="1" noProof="0" dirty="0">
                <a:solidFill>
                  <a:srgbClr val="1A1C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One-Hot </a:t>
            </a:r>
            <a:r>
              <a:rPr lang="es-CO" sz="1200" b="1" noProof="0" dirty="0" err="1">
                <a:solidFill>
                  <a:srgbClr val="1A1C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Encoding</a:t>
            </a:r>
            <a:r>
              <a:rPr lang="es-CO" sz="1200" b="1" noProof="0" dirty="0">
                <a:solidFill>
                  <a:srgbClr val="1A1C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</a:t>
            </a:r>
            <a:r>
              <a:rPr lang="es-CO" sz="1200" noProof="0" dirty="0">
                <a:solidFill>
                  <a:srgbClr val="444B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Aplicado a las variables categóricas </a:t>
            </a:r>
            <a:r>
              <a:rPr lang="es-CO" sz="1200" b="1" noProof="0" dirty="0" err="1">
                <a:solidFill>
                  <a:srgbClr val="1A1C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Department</a:t>
            </a:r>
            <a:r>
              <a:rPr lang="es-CO" sz="1200" noProof="0" dirty="0">
                <a:solidFill>
                  <a:srgbClr val="444B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y </a:t>
            </a:r>
            <a:r>
              <a:rPr lang="es-CO" sz="1200" b="1" noProof="0" dirty="0" err="1">
                <a:solidFill>
                  <a:srgbClr val="1A1C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salary</a:t>
            </a:r>
            <a:r>
              <a:rPr lang="es-CO" sz="1200" noProof="0" dirty="0">
                <a:solidFill>
                  <a:srgbClr val="444B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s-CO" sz="1200" noProof="0" dirty="0"/>
          </a:p>
        </p:txBody>
      </p:sp>
      <p:sp>
        <p:nvSpPr>
          <p:cNvPr id="21" name="SK-5-text-20"/>
          <p:cNvSpPr/>
          <p:nvPr/>
        </p:nvSpPr>
        <p:spPr>
          <a:xfrm>
            <a:off x="1028700" y="2874615"/>
            <a:ext cx="2870150" cy="685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800"/>
              </a:lnSpc>
              <a:buNone/>
            </a:pPr>
            <a:r>
              <a:rPr lang="es-CO" sz="1200" b="1" noProof="0" dirty="0" err="1">
                <a:solidFill>
                  <a:srgbClr val="1A1C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get_dummies</a:t>
            </a:r>
            <a:r>
              <a:rPr lang="es-CO" sz="1200" b="1" noProof="0" dirty="0">
                <a:solidFill>
                  <a:srgbClr val="1A1C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</a:t>
            </a:r>
            <a:r>
              <a:rPr lang="es-CO" sz="1200" noProof="0" dirty="0">
                <a:solidFill>
                  <a:srgbClr val="444B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Uso de </a:t>
            </a:r>
            <a:r>
              <a:rPr lang="es-CO" sz="1200" b="1" noProof="0" dirty="0" err="1">
                <a:solidFill>
                  <a:srgbClr val="1A1C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drop_first</a:t>
            </a:r>
            <a:r>
              <a:rPr lang="es-CO" sz="1200" b="1" noProof="0" dirty="0">
                <a:solidFill>
                  <a:srgbClr val="1A1C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=True</a:t>
            </a:r>
            <a:r>
              <a:rPr lang="es-CO" sz="1200" noProof="0" dirty="0">
                <a:solidFill>
                  <a:srgbClr val="444B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para evitar la multicolinealidad.</a:t>
            </a:r>
            <a:endParaRPr lang="es-CO" sz="1200" noProof="0" dirty="0"/>
          </a:p>
        </p:txBody>
      </p:sp>
      <p:sp>
        <p:nvSpPr>
          <p:cNvPr id="22" name="SK-5-text-21"/>
          <p:cNvSpPr/>
          <p:nvPr/>
        </p:nvSpPr>
        <p:spPr>
          <a:xfrm>
            <a:off x="1028700" y="3674715"/>
            <a:ext cx="2870150" cy="685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800"/>
              </a:lnSpc>
              <a:buNone/>
            </a:pPr>
            <a:r>
              <a:rPr lang="es-CO" sz="1200" b="1" noProof="0" dirty="0">
                <a:solidFill>
                  <a:srgbClr val="1A1C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Integridad: Eliminación de datos duplicados</a:t>
            </a:r>
            <a:endParaRPr lang="es-CO" sz="1200" noProof="0" dirty="0"/>
          </a:p>
        </p:txBody>
      </p:sp>
      <p:sp>
        <p:nvSpPr>
          <p:cNvPr id="23" name="SK-5-text-22"/>
          <p:cNvSpPr/>
          <p:nvPr/>
        </p:nvSpPr>
        <p:spPr>
          <a:xfrm>
            <a:off x="5079950" y="1569690"/>
            <a:ext cx="4438650" cy="2857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250"/>
              </a:lnSpc>
              <a:buNone/>
            </a:pPr>
            <a:r>
              <a:rPr lang="es-CO" sz="1500" b="1" noProof="0" dirty="0">
                <a:solidFill>
                  <a:srgbClr val="1A1C1E"/>
                </a:solidFill>
              </a:rPr>
              <a:t>Estrategia de Split</a:t>
            </a:r>
            <a:endParaRPr lang="es-CO" sz="1500" noProof="0" dirty="0"/>
          </a:p>
        </p:txBody>
      </p:sp>
      <p:sp>
        <p:nvSpPr>
          <p:cNvPr id="24" name="SK-5-text-23"/>
          <p:cNvSpPr/>
          <p:nvPr/>
        </p:nvSpPr>
        <p:spPr>
          <a:xfrm>
            <a:off x="4775150" y="2074515"/>
            <a:ext cx="287015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800"/>
              </a:lnSpc>
              <a:buNone/>
            </a:pPr>
            <a:r>
              <a:rPr lang="es-CO" sz="1200" b="1" noProof="0" dirty="0">
                <a:solidFill>
                  <a:srgbClr val="1A1C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Ratio 80/20:</a:t>
            </a:r>
            <a:r>
              <a:rPr lang="es-CO" sz="1200" noProof="0" dirty="0">
                <a:solidFill>
                  <a:srgbClr val="444B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División balanceada para asegurar capacidad de generalización.</a:t>
            </a:r>
            <a:endParaRPr lang="es-CO" sz="1200" noProof="0" dirty="0"/>
          </a:p>
        </p:txBody>
      </p:sp>
      <p:sp>
        <p:nvSpPr>
          <p:cNvPr id="25" name="SK-5-text-24"/>
          <p:cNvSpPr/>
          <p:nvPr/>
        </p:nvSpPr>
        <p:spPr>
          <a:xfrm>
            <a:off x="4775150" y="2646015"/>
            <a:ext cx="2870150" cy="685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800"/>
              </a:lnSpc>
              <a:buNone/>
            </a:pPr>
            <a:r>
              <a:rPr lang="es-CO" sz="1200" b="1" noProof="0" dirty="0">
                <a:solidFill>
                  <a:srgbClr val="1A1C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Estratificación:</a:t>
            </a:r>
            <a:r>
              <a:rPr lang="es-CO" sz="1200" noProof="0" dirty="0">
                <a:solidFill>
                  <a:srgbClr val="444B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Uso de </a:t>
            </a:r>
            <a:r>
              <a:rPr lang="es-CO" sz="1200" b="1" noProof="0" dirty="0" err="1">
                <a:solidFill>
                  <a:srgbClr val="1A1C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stratify</a:t>
            </a:r>
            <a:r>
              <a:rPr lang="es-CO" sz="1200" b="1" noProof="0" dirty="0">
                <a:solidFill>
                  <a:srgbClr val="1A1C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=y</a:t>
            </a:r>
            <a:r>
              <a:rPr lang="es-CO" sz="1200" noProof="0" dirty="0">
                <a:solidFill>
                  <a:srgbClr val="444B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para mantener la tasa de rotación (23,8%) en ambos sets.</a:t>
            </a:r>
            <a:endParaRPr lang="es-CO" sz="1200" noProof="0" dirty="0"/>
          </a:p>
        </p:txBody>
      </p:sp>
      <p:sp>
        <p:nvSpPr>
          <p:cNvPr id="26" name="SK-5-text-25"/>
          <p:cNvSpPr/>
          <p:nvPr/>
        </p:nvSpPr>
        <p:spPr>
          <a:xfrm>
            <a:off x="4775150" y="3446114"/>
            <a:ext cx="2801307" cy="27146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800"/>
              </a:lnSpc>
              <a:buNone/>
            </a:pPr>
            <a:r>
              <a:rPr lang="es-CO" sz="1200" b="1" noProof="0" dirty="0">
                <a:solidFill>
                  <a:srgbClr val="1A1C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Entrenamiento:</a:t>
            </a:r>
            <a:r>
              <a:rPr lang="es-CO" sz="1200" noProof="0" dirty="0">
                <a:solidFill>
                  <a:srgbClr val="444B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9,592 empleados.</a:t>
            </a:r>
            <a:endParaRPr lang="es-CO" sz="1200" noProof="0" dirty="0"/>
          </a:p>
        </p:txBody>
      </p:sp>
      <p:sp>
        <p:nvSpPr>
          <p:cNvPr id="27" name="SK-5-text-26"/>
          <p:cNvSpPr/>
          <p:nvPr/>
        </p:nvSpPr>
        <p:spPr>
          <a:xfrm>
            <a:off x="4775150" y="3789014"/>
            <a:ext cx="2278793" cy="30003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800"/>
              </a:lnSpc>
              <a:buNone/>
            </a:pPr>
            <a:r>
              <a:rPr lang="es-CO" sz="1200" b="1" noProof="0" dirty="0">
                <a:solidFill>
                  <a:srgbClr val="1A1C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Prueba:</a:t>
            </a:r>
            <a:r>
              <a:rPr lang="es-CO" sz="1200" noProof="0" dirty="0">
                <a:solidFill>
                  <a:srgbClr val="444B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s-CO" sz="1200" dirty="0">
                <a:solidFill>
                  <a:srgbClr val="444B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2,399</a:t>
            </a:r>
            <a:r>
              <a:rPr lang="es-CO" sz="1200" noProof="0" dirty="0">
                <a:solidFill>
                  <a:srgbClr val="444B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empleados.</a:t>
            </a:r>
            <a:endParaRPr lang="es-CO" sz="1200" noProof="0" dirty="0"/>
          </a:p>
        </p:txBody>
      </p:sp>
      <p:sp>
        <p:nvSpPr>
          <p:cNvPr id="28" name="SK-5-text-27"/>
          <p:cNvSpPr/>
          <p:nvPr/>
        </p:nvSpPr>
        <p:spPr>
          <a:xfrm>
            <a:off x="8826401" y="1569690"/>
            <a:ext cx="2381250" cy="2857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250"/>
              </a:lnSpc>
              <a:buNone/>
            </a:pPr>
            <a:r>
              <a:rPr lang="es-CO" sz="1500" b="1" noProof="0" dirty="0">
                <a:solidFill>
                  <a:srgbClr val="1A1C1E"/>
                </a:solidFill>
              </a:rPr>
              <a:t>Candidatos</a:t>
            </a:r>
            <a:endParaRPr lang="es-CO" sz="1500" noProof="0" dirty="0"/>
          </a:p>
        </p:txBody>
      </p:sp>
      <p:sp>
        <p:nvSpPr>
          <p:cNvPr id="29" name="SK-5-text-28"/>
          <p:cNvSpPr/>
          <p:nvPr/>
        </p:nvSpPr>
        <p:spPr>
          <a:xfrm>
            <a:off x="8521601" y="2074515"/>
            <a:ext cx="2870150" cy="685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800"/>
              </a:lnSpc>
              <a:buNone/>
            </a:pPr>
            <a:r>
              <a:rPr lang="es-CO" sz="1200" b="1" noProof="0" dirty="0">
                <a:solidFill>
                  <a:srgbClr val="1A1C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Regresión Logística:</a:t>
            </a:r>
            <a:r>
              <a:rPr lang="es-CO" sz="1200" noProof="0" dirty="0">
                <a:solidFill>
                  <a:srgbClr val="444B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Seleccionada como modelo base por su simplicidad e interpretabilidad.</a:t>
            </a:r>
            <a:endParaRPr lang="es-CO" sz="1200" noProof="0" dirty="0"/>
          </a:p>
        </p:txBody>
      </p:sp>
      <p:sp>
        <p:nvSpPr>
          <p:cNvPr id="30" name="SK-5-text-29"/>
          <p:cNvSpPr/>
          <p:nvPr/>
        </p:nvSpPr>
        <p:spPr>
          <a:xfrm>
            <a:off x="8521601" y="2874615"/>
            <a:ext cx="2870150" cy="685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800"/>
              </a:lnSpc>
              <a:buNone/>
            </a:pPr>
            <a:r>
              <a:rPr lang="es-CO" sz="1200" b="1" noProof="0" dirty="0">
                <a:solidFill>
                  <a:srgbClr val="1A1C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Random Forest:</a:t>
            </a:r>
            <a:r>
              <a:rPr lang="es-CO" sz="1200" noProof="0" dirty="0">
                <a:solidFill>
                  <a:srgbClr val="444B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Modelo de ensamble para capturar relaciones no lineales y pesos de variables.</a:t>
            </a:r>
            <a:endParaRPr lang="es-CO" sz="1200" noProof="0" dirty="0"/>
          </a:p>
        </p:txBody>
      </p:sp>
      <p:sp>
        <p:nvSpPr>
          <p:cNvPr id="31" name="SK-5-text-30"/>
          <p:cNvSpPr/>
          <p:nvPr/>
        </p:nvSpPr>
        <p:spPr>
          <a:xfrm>
            <a:off x="8407301" y="3827115"/>
            <a:ext cx="2052315" cy="26193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463"/>
              </a:lnSpc>
              <a:buNone/>
            </a:pPr>
            <a:r>
              <a:rPr lang="es-CO" sz="975" b="1" noProof="0" dirty="0">
                <a:solidFill>
                  <a:srgbClr val="006B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Enfoque: Clasificación Binaria</a:t>
            </a:r>
            <a:endParaRPr lang="es-CO" sz="975" noProof="0" dirty="0"/>
          </a:p>
        </p:txBody>
      </p:sp>
      <p:sp>
        <p:nvSpPr>
          <p:cNvPr id="32" name="SK-5-text-31"/>
          <p:cNvSpPr/>
          <p:nvPr/>
        </p:nvSpPr>
        <p:spPr>
          <a:xfrm>
            <a:off x="1028700" y="5673957"/>
            <a:ext cx="10668000" cy="39231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470"/>
              </a:lnSpc>
              <a:buNone/>
            </a:pPr>
            <a:r>
              <a:rPr lang="es-CO" sz="1050" noProof="0" dirty="0">
                <a:solidFill>
                  <a:srgbClr val="6C767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s-CO" sz="1050" b="1" noProof="0" dirty="0">
                <a:solidFill>
                  <a:srgbClr val="6C767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Nota de Calidad:</a:t>
            </a:r>
            <a:r>
              <a:rPr lang="es-CO" sz="1050" noProof="0" dirty="0">
                <a:solidFill>
                  <a:srgbClr val="6C767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La variable objetivo </a:t>
            </a:r>
            <a:r>
              <a:rPr lang="es-CO" sz="1050" noProof="0" dirty="0" err="1">
                <a:solidFill>
                  <a:srgbClr val="6C767E"/>
                </a:solidFill>
              </a:rPr>
              <a:t>left</a:t>
            </a:r>
            <a:r>
              <a:rPr lang="es-CO" sz="1050" noProof="0" dirty="0">
                <a:solidFill>
                  <a:srgbClr val="6C767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define la clase positiva (1) como abandono, permitiendo enfocar el modelado en la detección temprana del riesgo de salida.</a:t>
            </a:r>
            <a:endParaRPr lang="es-CO" sz="1050" noProof="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SK-6-img-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381000"/>
            <a:ext cx="11049000" cy="664815"/>
          </a:xfrm>
          <a:prstGeom prst="rect">
            <a:avLst/>
          </a:prstGeom>
        </p:spPr>
      </p:pic>
      <p:pic>
        <p:nvPicPr>
          <p:cNvPr id="7" name="SK-6-img-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2569815"/>
            <a:ext cx="5138738" cy="76200"/>
          </a:xfrm>
          <a:prstGeom prst="rect">
            <a:avLst/>
          </a:prstGeom>
        </p:spPr>
      </p:pic>
      <p:pic>
        <p:nvPicPr>
          <p:cNvPr id="8" name="SK-6-img-7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2569815"/>
            <a:ext cx="4059585" cy="76200"/>
          </a:xfrm>
          <a:prstGeom prst="rect">
            <a:avLst/>
          </a:prstGeom>
        </p:spPr>
      </p:pic>
      <p:pic>
        <p:nvPicPr>
          <p:cNvPr id="9" name="SK-6-img-8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3179415"/>
            <a:ext cx="5138738" cy="76200"/>
          </a:xfrm>
          <a:prstGeom prst="rect">
            <a:avLst/>
          </a:prstGeom>
        </p:spPr>
      </p:pic>
      <p:pic>
        <p:nvPicPr>
          <p:cNvPr id="10" name="SK-6-img-9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3179415"/>
            <a:ext cx="2312343" cy="76200"/>
          </a:xfrm>
          <a:prstGeom prst="rect">
            <a:avLst/>
          </a:prstGeom>
        </p:spPr>
      </p:pic>
      <p:pic>
        <p:nvPicPr>
          <p:cNvPr id="11" name="SK-6-img-1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3789015"/>
            <a:ext cx="5138738" cy="76200"/>
          </a:xfrm>
          <a:prstGeom prst="rect">
            <a:avLst/>
          </a:prstGeom>
        </p:spPr>
      </p:pic>
      <p:pic>
        <p:nvPicPr>
          <p:cNvPr id="12" name="SK-6-img-11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3789015"/>
            <a:ext cx="1798439" cy="76200"/>
          </a:xfrm>
          <a:prstGeom prst="rect">
            <a:avLst/>
          </a:prstGeom>
        </p:spPr>
      </p:pic>
      <p:pic>
        <p:nvPicPr>
          <p:cNvPr id="13" name="SK-6-img-12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1500" y="4360515"/>
            <a:ext cx="5138738" cy="1129159"/>
          </a:xfrm>
          <a:prstGeom prst="rect">
            <a:avLst/>
          </a:prstGeom>
        </p:spPr>
      </p:pic>
      <p:pic>
        <p:nvPicPr>
          <p:cNvPr id="14" name="SK-6-img-13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23900" y="4512915"/>
            <a:ext cx="178594" cy="214313"/>
          </a:xfrm>
          <a:prstGeom prst="rect">
            <a:avLst/>
          </a:prstGeom>
        </p:spPr>
      </p:pic>
      <p:pic>
        <p:nvPicPr>
          <p:cNvPr id="15" name="SK-6-img-14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23900" y="4803428"/>
            <a:ext cx="178594" cy="457646"/>
          </a:xfrm>
          <a:prstGeom prst="rect">
            <a:avLst/>
          </a:prstGeom>
        </p:spPr>
      </p:pic>
      <p:pic>
        <p:nvPicPr>
          <p:cNvPr id="16" name="SK-6-img-15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091238" y="1655415"/>
            <a:ext cx="9525" cy="4440585"/>
          </a:xfrm>
          <a:prstGeom prst="rect">
            <a:avLst/>
          </a:prstGeom>
        </p:spPr>
      </p:pic>
      <p:pic>
        <p:nvPicPr>
          <p:cNvPr id="20" name="SK-6-img-1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167813" y="1636365"/>
            <a:ext cx="142875" cy="114300"/>
          </a:xfrm>
          <a:prstGeom prst="rect">
            <a:avLst/>
          </a:prstGeom>
        </p:spPr>
      </p:pic>
      <p:pic>
        <p:nvPicPr>
          <p:cNvPr id="21" name="SK-6-img-2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481763" y="2569815"/>
            <a:ext cx="5138738" cy="76200"/>
          </a:xfrm>
          <a:prstGeom prst="rect">
            <a:avLst/>
          </a:prstGeom>
        </p:spPr>
      </p:pic>
      <p:pic>
        <p:nvPicPr>
          <p:cNvPr id="22" name="SK-6-img-2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481763" y="2569815"/>
            <a:ext cx="5035897" cy="76200"/>
          </a:xfrm>
          <a:prstGeom prst="rect">
            <a:avLst/>
          </a:prstGeom>
        </p:spPr>
      </p:pic>
      <p:pic>
        <p:nvPicPr>
          <p:cNvPr id="23" name="SK-6-img-22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481763" y="3179415"/>
            <a:ext cx="5138738" cy="76200"/>
          </a:xfrm>
          <a:prstGeom prst="rect">
            <a:avLst/>
          </a:prstGeom>
        </p:spPr>
      </p:pic>
      <p:pic>
        <p:nvPicPr>
          <p:cNvPr id="24" name="SK-6-img-23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481763" y="3179415"/>
            <a:ext cx="4984552" cy="76200"/>
          </a:xfrm>
          <a:prstGeom prst="rect">
            <a:avLst/>
          </a:prstGeom>
        </p:spPr>
      </p:pic>
      <p:pic>
        <p:nvPicPr>
          <p:cNvPr id="25" name="SK-6-img-24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481763" y="3789015"/>
            <a:ext cx="5138738" cy="76200"/>
          </a:xfrm>
          <a:prstGeom prst="rect">
            <a:avLst/>
          </a:prstGeom>
        </p:spPr>
      </p:pic>
      <p:pic>
        <p:nvPicPr>
          <p:cNvPr id="26" name="SK-6-img-25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481763" y="3789015"/>
            <a:ext cx="4830366" cy="76200"/>
          </a:xfrm>
          <a:prstGeom prst="rect">
            <a:avLst/>
          </a:prstGeom>
        </p:spPr>
      </p:pic>
      <p:pic>
        <p:nvPicPr>
          <p:cNvPr id="27" name="SK-6-img-26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481763" y="4360515"/>
            <a:ext cx="5138738" cy="1392734"/>
          </a:xfrm>
          <a:prstGeom prst="rect">
            <a:avLst/>
          </a:prstGeom>
        </p:spPr>
      </p:pic>
      <p:pic>
        <p:nvPicPr>
          <p:cNvPr id="28" name="SK-6-img-27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634163" y="4512915"/>
            <a:ext cx="178594" cy="430709"/>
          </a:xfrm>
          <a:prstGeom prst="rect">
            <a:avLst/>
          </a:prstGeom>
        </p:spPr>
      </p:pic>
      <p:pic>
        <p:nvPicPr>
          <p:cNvPr id="29" name="SK-6-img-28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634163" y="5019824"/>
            <a:ext cx="178594" cy="214313"/>
          </a:xfrm>
          <a:prstGeom prst="rect">
            <a:avLst/>
          </a:prstGeom>
        </p:spPr>
      </p:pic>
      <p:pic>
        <p:nvPicPr>
          <p:cNvPr id="30" name="SK-6-img-29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634163" y="5310336"/>
            <a:ext cx="178594" cy="214313"/>
          </a:xfrm>
          <a:prstGeom prst="rect">
            <a:avLst/>
          </a:prstGeom>
        </p:spPr>
      </p:pic>
      <p:sp>
        <p:nvSpPr>
          <p:cNvPr id="31" name="SK-6-text-30"/>
          <p:cNvSpPr/>
          <p:nvPr/>
        </p:nvSpPr>
        <p:spPr>
          <a:xfrm>
            <a:off x="762000" y="381000"/>
            <a:ext cx="10934700" cy="2000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1800"/>
              </a:lnSpc>
            </a:pPr>
            <a:r>
              <a:rPr lang="es-CO" sz="1050" b="1" kern="0" spc="120" dirty="0">
                <a:solidFill>
                  <a:srgbClr val="006B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PROYECTO FINAL </a:t>
            </a:r>
            <a:r>
              <a:rPr lang="es-CO" sz="1050" b="1" kern="0" spc="120" dirty="0" err="1">
                <a:solidFill>
                  <a:srgbClr val="006B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Dataxperience</a:t>
            </a:r>
            <a:endParaRPr lang="es-CO" sz="1050" dirty="0"/>
          </a:p>
        </p:txBody>
      </p:sp>
      <p:sp>
        <p:nvSpPr>
          <p:cNvPr id="32" name="SK-6-text-31"/>
          <p:cNvSpPr/>
          <p:nvPr/>
        </p:nvSpPr>
        <p:spPr>
          <a:xfrm>
            <a:off x="762000" y="657225"/>
            <a:ext cx="11430000" cy="38859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3060"/>
              </a:lnSpc>
              <a:buNone/>
            </a:pPr>
            <a:r>
              <a:rPr lang="es-CO" sz="2550" b="1" noProof="0" dirty="0">
                <a:solidFill>
                  <a:srgbClr val="1A1C1E"/>
                </a:solidFill>
              </a:rPr>
              <a:t>Comparación de Resultados de Modelos</a:t>
            </a:r>
            <a:endParaRPr lang="es-CO" sz="2550" noProof="0" dirty="0"/>
          </a:p>
        </p:txBody>
      </p:sp>
      <p:sp>
        <p:nvSpPr>
          <p:cNvPr id="33" name="SK-6-text-32"/>
          <p:cNvSpPr/>
          <p:nvPr/>
        </p:nvSpPr>
        <p:spPr>
          <a:xfrm>
            <a:off x="571500" y="1502441"/>
            <a:ext cx="5326380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700"/>
              </a:lnSpc>
              <a:buNone/>
            </a:pPr>
            <a:r>
              <a:rPr lang="es-CO" sz="1800" b="1" noProof="0" dirty="0">
                <a:solidFill>
                  <a:srgbClr val="1A1C1E"/>
                </a:solidFill>
              </a:rPr>
              <a:t>Regresión Logística</a:t>
            </a:r>
            <a:endParaRPr lang="es-CO" sz="1800" noProof="0" dirty="0"/>
          </a:p>
        </p:txBody>
      </p:sp>
      <p:sp>
        <p:nvSpPr>
          <p:cNvPr id="34" name="SK-6-text-33"/>
          <p:cNvSpPr/>
          <p:nvPr/>
        </p:nvSpPr>
        <p:spPr>
          <a:xfrm>
            <a:off x="571500" y="2293590"/>
            <a:ext cx="1356360" cy="2000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s-CO" sz="1050" b="1" noProof="0" dirty="0">
                <a:solidFill>
                  <a:srgbClr val="6C767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ACCURACY</a:t>
            </a:r>
            <a:endParaRPr lang="es-CO" sz="1050" noProof="0" dirty="0"/>
          </a:p>
        </p:txBody>
      </p:sp>
      <p:sp>
        <p:nvSpPr>
          <p:cNvPr id="35" name="SK-6-text-34"/>
          <p:cNvSpPr/>
          <p:nvPr/>
        </p:nvSpPr>
        <p:spPr>
          <a:xfrm>
            <a:off x="5281613" y="2226915"/>
            <a:ext cx="1466850" cy="2857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250"/>
              </a:lnSpc>
              <a:buNone/>
            </a:pPr>
            <a:r>
              <a:rPr lang="es-CO" sz="1500" b="1" noProof="0" dirty="0">
                <a:solidFill>
                  <a:srgbClr val="1A1C1E"/>
                </a:solidFill>
              </a:rPr>
              <a:t>0.83</a:t>
            </a:r>
            <a:endParaRPr lang="es-CO" sz="1500" noProof="0" dirty="0"/>
          </a:p>
        </p:txBody>
      </p:sp>
      <p:sp>
        <p:nvSpPr>
          <p:cNvPr id="36" name="SK-6-text-35"/>
          <p:cNvSpPr/>
          <p:nvPr/>
        </p:nvSpPr>
        <p:spPr>
          <a:xfrm>
            <a:off x="571500" y="2903190"/>
            <a:ext cx="3169920" cy="2000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s-CO" sz="1050" b="1" noProof="0" dirty="0">
                <a:solidFill>
                  <a:srgbClr val="6C767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F1-SCORE (CLASE 1)</a:t>
            </a:r>
            <a:endParaRPr lang="es-CO" sz="1050" noProof="0" dirty="0"/>
          </a:p>
        </p:txBody>
      </p:sp>
      <p:sp>
        <p:nvSpPr>
          <p:cNvPr id="37" name="SK-6-text-36"/>
          <p:cNvSpPr/>
          <p:nvPr/>
        </p:nvSpPr>
        <p:spPr>
          <a:xfrm>
            <a:off x="5262563" y="2836515"/>
            <a:ext cx="1466850" cy="2857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250"/>
              </a:lnSpc>
              <a:buNone/>
            </a:pPr>
            <a:r>
              <a:rPr lang="es-CO" sz="1500" b="1" noProof="0" dirty="0">
                <a:solidFill>
                  <a:srgbClr val="1A1C1E"/>
                </a:solidFill>
              </a:rPr>
              <a:t>0.30</a:t>
            </a:r>
            <a:endParaRPr lang="es-CO" sz="1500" noProof="0" dirty="0"/>
          </a:p>
        </p:txBody>
      </p:sp>
      <p:sp>
        <p:nvSpPr>
          <p:cNvPr id="38" name="SK-6-text-37"/>
          <p:cNvSpPr/>
          <p:nvPr/>
        </p:nvSpPr>
        <p:spPr>
          <a:xfrm>
            <a:off x="571500" y="3512790"/>
            <a:ext cx="2743200" cy="2000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s-CO" sz="1050" b="1" noProof="0" dirty="0">
                <a:solidFill>
                  <a:srgbClr val="6C767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RECALL (CLASE 1)</a:t>
            </a:r>
            <a:endParaRPr lang="es-CO" sz="1050" noProof="0" dirty="0"/>
          </a:p>
        </p:txBody>
      </p:sp>
      <p:sp>
        <p:nvSpPr>
          <p:cNvPr id="39" name="SK-6-text-38"/>
          <p:cNvSpPr/>
          <p:nvPr/>
        </p:nvSpPr>
        <p:spPr>
          <a:xfrm>
            <a:off x="5272088" y="3446115"/>
            <a:ext cx="1466850" cy="2857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250"/>
              </a:lnSpc>
              <a:buNone/>
            </a:pPr>
            <a:r>
              <a:rPr lang="es-CO" sz="1500" b="1" noProof="0" dirty="0">
                <a:solidFill>
                  <a:srgbClr val="1A1C1E"/>
                </a:solidFill>
              </a:rPr>
              <a:t>0.21</a:t>
            </a:r>
            <a:endParaRPr lang="es-CO" sz="1500" noProof="0" dirty="0"/>
          </a:p>
        </p:txBody>
      </p:sp>
      <p:sp>
        <p:nvSpPr>
          <p:cNvPr id="40" name="SK-6-text-39"/>
          <p:cNvSpPr/>
          <p:nvPr/>
        </p:nvSpPr>
        <p:spPr>
          <a:xfrm>
            <a:off x="997744" y="4512915"/>
            <a:ext cx="11194256" cy="2143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8"/>
              </a:lnSpc>
              <a:buNone/>
            </a:pPr>
            <a:r>
              <a:rPr lang="es-CO" sz="1125" noProof="0" dirty="0">
                <a:solidFill>
                  <a:srgbClr val="444B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Modelo base lineal con capacidad limitada para detectar rotación.</a:t>
            </a:r>
            <a:endParaRPr lang="es-CO" sz="1125" noProof="0" dirty="0"/>
          </a:p>
        </p:txBody>
      </p:sp>
      <p:sp>
        <p:nvSpPr>
          <p:cNvPr id="41" name="SK-6-text-40"/>
          <p:cNvSpPr/>
          <p:nvPr/>
        </p:nvSpPr>
        <p:spPr>
          <a:xfrm>
            <a:off x="997744" y="4803428"/>
            <a:ext cx="4560094" cy="45764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8"/>
              </a:lnSpc>
              <a:buNone/>
            </a:pPr>
            <a:r>
              <a:rPr lang="es-CO" sz="1125" noProof="0" dirty="0">
                <a:solidFill>
                  <a:srgbClr val="444B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Deja escapar una proporción importante de casos de riesgo (</a:t>
            </a:r>
            <a:r>
              <a:rPr lang="es-CO" sz="1125" noProof="0" dirty="0" err="1">
                <a:solidFill>
                  <a:srgbClr val="444B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Recall</a:t>
            </a:r>
            <a:r>
              <a:rPr lang="es-CO" sz="1125" noProof="0" dirty="0">
                <a:solidFill>
                  <a:srgbClr val="444B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bajo).</a:t>
            </a:r>
            <a:endParaRPr lang="es-CO" sz="1125" noProof="0" dirty="0"/>
          </a:p>
        </p:txBody>
      </p:sp>
      <p:sp>
        <p:nvSpPr>
          <p:cNvPr id="42" name="SK-6-text-41"/>
          <p:cNvSpPr/>
          <p:nvPr/>
        </p:nvSpPr>
        <p:spPr>
          <a:xfrm>
            <a:off x="6477000" y="1493490"/>
            <a:ext cx="3680460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700"/>
              </a:lnSpc>
              <a:buNone/>
            </a:pPr>
            <a:r>
              <a:rPr lang="es-CO" sz="1800" b="1" noProof="0" dirty="0">
                <a:solidFill>
                  <a:srgbClr val="1A1C1E"/>
                </a:solidFill>
              </a:rPr>
              <a:t>Random Forest</a:t>
            </a:r>
            <a:endParaRPr lang="es-CO" sz="1800" noProof="0" dirty="0"/>
          </a:p>
        </p:txBody>
      </p:sp>
      <p:sp>
        <p:nvSpPr>
          <p:cNvPr id="43" name="SK-6-text-42"/>
          <p:cNvSpPr/>
          <p:nvPr/>
        </p:nvSpPr>
        <p:spPr>
          <a:xfrm>
            <a:off x="9367838" y="1569690"/>
            <a:ext cx="879872" cy="2476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s-CO" sz="900" b="1" kern="0" spc="30" noProof="0" dirty="0">
                <a:solidFill>
                  <a:srgbClr val="FFFFFF"/>
                </a:solidFill>
              </a:rPr>
              <a:t>NADOR</a:t>
            </a:r>
            <a:endParaRPr lang="es-CO" sz="900" noProof="0" dirty="0"/>
          </a:p>
        </p:txBody>
      </p:sp>
      <p:sp>
        <p:nvSpPr>
          <p:cNvPr id="44" name="SK-6-text-43"/>
          <p:cNvSpPr/>
          <p:nvPr/>
        </p:nvSpPr>
        <p:spPr>
          <a:xfrm>
            <a:off x="6481763" y="2293590"/>
            <a:ext cx="1356360" cy="2000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s-CO" sz="1050" b="1" noProof="0" dirty="0">
                <a:solidFill>
                  <a:srgbClr val="6C767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ACCURACY</a:t>
            </a:r>
            <a:endParaRPr lang="es-CO" sz="1050" noProof="0" dirty="0"/>
          </a:p>
        </p:txBody>
      </p:sp>
      <p:sp>
        <p:nvSpPr>
          <p:cNvPr id="45" name="SK-6-text-44"/>
          <p:cNvSpPr/>
          <p:nvPr/>
        </p:nvSpPr>
        <p:spPr>
          <a:xfrm>
            <a:off x="11172825" y="2226915"/>
            <a:ext cx="1019175" cy="2857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250"/>
              </a:lnSpc>
              <a:buNone/>
            </a:pPr>
            <a:r>
              <a:rPr lang="es-CO" sz="1500" b="1" noProof="0" dirty="0">
                <a:solidFill>
                  <a:srgbClr val="1A1C1E"/>
                </a:solidFill>
              </a:rPr>
              <a:t>0.99</a:t>
            </a:r>
            <a:endParaRPr lang="es-CO" sz="1500" noProof="0" dirty="0"/>
          </a:p>
        </p:txBody>
      </p:sp>
      <p:sp>
        <p:nvSpPr>
          <p:cNvPr id="46" name="SK-6-text-45"/>
          <p:cNvSpPr/>
          <p:nvPr/>
        </p:nvSpPr>
        <p:spPr>
          <a:xfrm>
            <a:off x="6481763" y="2903190"/>
            <a:ext cx="3169920" cy="2000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s-CO" sz="1050" b="1" noProof="0" dirty="0">
                <a:solidFill>
                  <a:srgbClr val="6C767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F1-SCORE (CLASE 1)</a:t>
            </a:r>
            <a:endParaRPr lang="es-CO" sz="1050" noProof="0" dirty="0"/>
          </a:p>
        </p:txBody>
      </p:sp>
      <p:sp>
        <p:nvSpPr>
          <p:cNvPr id="47" name="SK-6-text-46"/>
          <p:cNvSpPr/>
          <p:nvPr/>
        </p:nvSpPr>
        <p:spPr>
          <a:xfrm>
            <a:off x="11191875" y="2836515"/>
            <a:ext cx="1000125" cy="2857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250"/>
              </a:lnSpc>
              <a:buNone/>
            </a:pPr>
            <a:r>
              <a:rPr lang="es-CO" sz="1500" b="1" noProof="0" dirty="0">
                <a:solidFill>
                  <a:srgbClr val="1A1C1E"/>
                </a:solidFill>
              </a:rPr>
              <a:t>0.95</a:t>
            </a:r>
            <a:endParaRPr lang="es-CO" sz="1500" noProof="0" dirty="0"/>
          </a:p>
        </p:txBody>
      </p:sp>
      <p:sp>
        <p:nvSpPr>
          <p:cNvPr id="48" name="SK-6-text-47"/>
          <p:cNvSpPr/>
          <p:nvPr/>
        </p:nvSpPr>
        <p:spPr>
          <a:xfrm>
            <a:off x="6481763" y="3512790"/>
            <a:ext cx="2743200" cy="2000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s-CO" sz="1050" b="1" noProof="0" dirty="0">
                <a:solidFill>
                  <a:srgbClr val="6C767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RECALL (CLASE 1)</a:t>
            </a:r>
            <a:endParaRPr lang="es-CO" sz="1050" noProof="0" dirty="0"/>
          </a:p>
        </p:txBody>
      </p:sp>
      <p:sp>
        <p:nvSpPr>
          <p:cNvPr id="49" name="SK-6-text-48"/>
          <p:cNvSpPr/>
          <p:nvPr/>
        </p:nvSpPr>
        <p:spPr>
          <a:xfrm>
            <a:off x="11172825" y="3446115"/>
            <a:ext cx="1019175" cy="2857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250"/>
              </a:lnSpc>
              <a:buNone/>
            </a:pPr>
            <a:r>
              <a:rPr lang="es-CO" sz="1500" b="1" noProof="0" dirty="0">
                <a:solidFill>
                  <a:srgbClr val="1A1C1E"/>
                </a:solidFill>
              </a:rPr>
              <a:t>0.92</a:t>
            </a:r>
            <a:endParaRPr lang="es-CO" sz="1500" noProof="0" dirty="0"/>
          </a:p>
        </p:txBody>
      </p:sp>
      <p:sp>
        <p:nvSpPr>
          <p:cNvPr id="50" name="SK-6-text-49"/>
          <p:cNvSpPr/>
          <p:nvPr/>
        </p:nvSpPr>
        <p:spPr>
          <a:xfrm>
            <a:off x="6908006" y="4512915"/>
            <a:ext cx="4560094" cy="43070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8"/>
              </a:lnSpc>
              <a:buNone/>
            </a:pPr>
            <a:r>
              <a:rPr lang="es-CO" sz="1125" noProof="0" dirty="0">
                <a:solidFill>
                  <a:srgbClr val="1A1C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Superioridad clara en la detección de empleados en riesgo de salida.</a:t>
            </a:r>
            <a:endParaRPr lang="es-CO" sz="1125" noProof="0" dirty="0"/>
          </a:p>
        </p:txBody>
      </p:sp>
      <p:sp>
        <p:nvSpPr>
          <p:cNvPr id="51" name="SK-6-text-50"/>
          <p:cNvSpPr/>
          <p:nvPr/>
        </p:nvSpPr>
        <p:spPr>
          <a:xfrm>
            <a:off x="6908006" y="5019824"/>
            <a:ext cx="5283994" cy="2143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8"/>
              </a:lnSpc>
              <a:buNone/>
            </a:pPr>
            <a:r>
              <a:rPr lang="es-CO" sz="1125" noProof="0" dirty="0">
                <a:solidFill>
                  <a:srgbClr val="1A1C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Excelente equilibrio entre precisión (0.99) y </a:t>
            </a:r>
            <a:r>
              <a:rPr lang="es-CO" sz="1125" noProof="0" dirty="0" err="1">
                <a:solidFill>
                  <a:srgbClr val="1A1C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recall</a:t>
            </a:r>
            <a:r>
              <a:rPr lang="es-CO" sz="1125" noProof="0" dirty="0">
                <a:solidFill>
                  <a:srgbClr val="1A1C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(0.92).</a:t>
            </a:r>
            <a:endParaRPr lang="es-CO" sz="1125" noProof="0" dirty="0"/>
          </a:p>
        </p:txBody>
      </p:sp>
      <p:sp>
        <p:nvSpPr>
          <p:cNvPr id="52" name="SK-6-text-51"/>
          <p:cNvSpPr/>
          <p:nvPr/>
        </p:nvSpPr>
        <p:spPr>
          <a:xfrm>
            <a:off x="6924048" y="5310336"/>
            <a:ext cx="5283994" cy="2143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8"/>
              </a:lnSpc>
              <a:buNone/>
            </a:pPr>
            <a:r>
              <a:rPr lang="es-CO" sz="1125" noProof="0" dirty="0">
                <a:solidFill>
                  <a:srgbClr val="1A1C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Sin sobreajuste: Score Entrenamiento (0.98) vs Prueba (0.95).</a:t>
            </a:r>
            <a:endParaRPr lang="es-CO" sz="1125" noProof="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SK-7-img-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381000"/>
            <a:ext cx="11049000" cy="664815"/>
          </a:xfrm>
          <a:prstGeom prst="rect">
            <a:avLst/>
          </a:prstGeom>
        </p:spPr>
      </p:pic>
      <p:pic>
        <p:nvPicPr>
          <p:cNvPr id="5" name="SK-7-img-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1274415"/>
            <a:ext cx="4328220" cy="5202585"/>
          </a:xfrm>
          <a:prstGeom prst="rect">
            <a:avLst/>
          </a:prstGeom>
        </p:spPr>
      </p:pic>
      <p:pic>
        <p:nvPicPr>
          <p:cNvPr id="6" name="SK-7-img-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0100" y="1503015"/>
            <a:ext cx="3871020" cy="428625"/>
          </a:xfrm>
          <a:prstGeom prst="rect">
            <a:avLst/>
          </a:prstGeom>
        </p:spPr>
      </p:pic>
      <p:pic>
        <p:nvPicPr>
          <p:cNvPr id="7" name="SK-7-img-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0100" y="1545878"/>
            <a:ext cx="285750" cy="228600"/>
          </a:xfrm>
          <a:prstGeom prst="rect">
            <a:avLst/>
          </a:prstGeom>
        </p:spPr>
      </p:pic>
      <p:pic>
        <p:nvPicPr>
          <p:cNvPr id="8" name="SK-7-img-7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0100" y="2084040"/>
            <a:ext cx="1859310" cy="857250"/>
          </a:xfrm>
          <a:prstGeom prst="rect">
            <a:avLst/>
          </a:prstGeom>
        </p:spPr>
      </p:pic>
      <p:pic>
        <p:nvPicPr>
          <p:cNvPr id="9" name="SK-7-img-8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811810" y="2084040"/>
            <a:ext cx="1859310" cy="857250"/>
          </a:xfrm>
          <a:prstGeom prst="rect">
            <a:avLst/>
          </a:prstGeom>
        </p:spPr>
      </p:pic>
      <p:pic>
        <p:nvPicPr>
          <p:cNvPr id="10" name="SK-7-img-9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0100" y="3093690"/>
            <a:ext cx="1859310" cy="857250"/>
          </a:xfrm>
          <a:prstGeom prst="rect">
            <a:avLst/>
          </a:prstGeom>
        </p:spPr>
      </p:pic>
      <p:pic>
        <p:nvPicPr>
          <p:cNvPr id="11" name="SK-7-img-10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811810" y="3093690"/>
            <a:ext cx="1859310" cy="857250"/>
          </a:xfrm>
          <a:prstGeom prst="rect">
            <a:avLst/>
          </a:prstGeom>
        </p:spPr>
      </p:pic>
      <p:pic>
        <p:nvPicPr>
          <p:cNvPr id="12" name="SK-7-img-11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0100" y="4179540"/>
            <a:ext cx="3871020" cy="1076325"/>
          </a:xfrm>
          <a:prstGeom prst="rect">
            <a:avLst/>
          </a:prstGeom>
        </p:spPr>
      </p:pic>
      <p:pic>
        <p:nvPicPr>
          <p:cNvPr id="13" name="SK-7-img-12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14400" y="4570065"/>
            <a:ext cx="1152525" cy="247650"/>
          </a:xfrm>
          <a:prstGeom prst="rect">
            <a:avLst/>
          </a:prstGeom>
        </p:spPr>
      </p:pic>
      <p:pic>
        <p:nvPicPr>
          <p:cNvPr id="14" name="SK-7-img-13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143125" y="4570065"/>
            <a:ext cx="971550" cy="247650"/>
          </a:xfrm>
          <a:prstGeom prst="rect">
            <a:avLst/>
          </a:prstGeom>
        </p:spPr>
      </p:pic>
      <p:pic>
        <p:nvPicPr>
          <p:cNvPr id="15" name="SK-7-img-14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190875" y="4570065"/>
            <a:ext cx="1143000" cy="247650"/>
          </a:xfrm>
          <a:prstGeom prst="rect">
            <a:avLst/>
          </a:prstGeom>
        </p:spPr>
      </p:pic>
      <p:pic>
        <p:nvPicPr>
          <p:cNvPr id="16" name="SK-7-img-15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14400" y="4893915"/>
            <a:ext cx="1000125" cy="247650"/>
          </a:xfrm>
          <a:prstGeom prst="rect">
            <a:avLst/>
          </a:prstGeom>
        </p:spPr>
      </p:pic>
      <p:pic>
        <p:nvPicPr>
          <p:cNvPr id="17" name="SK-7-img-16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128320" y="1761083"/>
            <a:ext cx="214313" cy="203002"/>
          </a:xfrm>
          <a:prstGeom prst="rect">
            <a:avLst/>
          </a:prstGeom>
        </p:spPr>
      </p:pic>
      <p:pic>
        <p:nvPicPr>
          <p:cNvPr id="18" name="SK-7-img-17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128320" y="2608808"/>
            <a:ext cx="214313" cy="192881"/>
          </a:xfrm>
          <a:prstGeom prst="rect">
            <a:avLst/>
          </a:prstGeom>
        </p:spPr>
      </p:pic>
      <p:pic>
        <p:nvPicPr>
          <p:cNvPr id="19" name="SK-7-img-18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128320" y="3456533"/>
            <a:ext cx="214313" cy="203002"/>
          </a:xfrm>
          <a:prstGeom prst="rect">
            <a:avLst/>
          </a:prstGeom>
        </p:spPr>
      </p:pic>
      <p:pic>
        <p:nvPicPr>
          <p:cNvPr id="20" name="SK-7-img-19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128320" y="4304258"/>
            <a:ext cx="214313" cy="203002"/>
          </a:xfrm>
          <a:prstGeom prst="rect">
            <a:avLst/>
          </a:prstGeom>
        </p:spPr>
      </p:pic>
      <p:sp>
        <p:nvSpPr>
          <p:cNvPr id="23" name="SK-7-text-22"/>
          <p:cNvSpPr/>
          <p:nvPr/>
        </p:nvSpPr>
        <p:spPr>
          <a:xfrm>
            <a:off x="762000" y="381000"/>
            <a:ext cx="10934700" cy="2000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1800"/>
              </a:lnSpc>
            </a:pPr>
            <a:r>
              <a:rPr lang="es-CO" sz="1050" b="1" kern="0" spc="120" dirty="0">
                <a:solidFill>
                  <a:srgbClr val="006B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PROYECTO FINAL </a:t>
            </a:r>
            <a:r>
              <a:rPr lang="es-CO" sz="1050" b="1" kern="0" spc="120" dirty="0" err="1">
                <a:solidFill>
                  <a:srgbClr val="006B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Dataxperience</a:t>
            </a:r>
            <a:endParaRPr lang="es-CO" sz="1050" dirty="0"/>
          </a:p>
        </p:txBody>
      </p:sp>
      <p:sp>
        <p:nvSpPr>
          <p:cNvPr id="24" name="SK-7-text-23"/>
          <p:cNvSpPr/>
          <p:nvPr/>
        </p:nvSpPr>
        <p:spPr>
          <a:xfrm>
            <a:off x="762000" y="657225"/>
            <a:ext cx="11430000" cy="38859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3060"/>
              </a:lnSpc>
              <a:buNone/>
            </a:pPr>
            <a:r>
              <a:rPr lang="es-CO" sz="2550" b="1" noProof="0" dirty="0">
                <a:solidFill>
                  <a:srgbClr val="1A1C1E"/>
                </a:solidFill>
              </a:rPr>
              <a:t>Modelo Seleccionado y Justificación</a:t>
            </a:r>
            <a:endParaRPr lang="es-CO" sz="2550" noProof="0" dirty="0"/>
          </a:p>
        </p:txBody>
      </p:sp>
      <p:sp>
        <p:nvSpPr>
          <p:cNvPr id="25" name="SK-7-text-24"/>
          <p:cNvSpPr/>
          <p:nvPr/>
        </p:nvSpPr>
        <p:spPr>
          <a:xfrm>
            <a:off x="1200150" y="1503015"/>
            <a:ext cx="6139815" cy="3143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475"/>
              </a:lnSpc>
              <a:buNone/>
            </a:pPr>
            <a:r>
              <a:rPr lang="es-CO" sz="1650" b="1" noProof="0" dirty="0">
                <a:solidFill>
                  <a:srgbClr val="1A1C1E"/>
                </a:solidFill>
              </a:rPr>
              <a:t>Random Forest </a:t>
            </a:r>
            <a:r>
              <a:rPr lang="es-CO" sz="1650" b="1" noProof="0" dirty="0" err="1">
                <a:solidFill>
                  <a:srgbClr val="1A1C1E"/>
                </a:solidFill>
              </a:rPr>
              <a:t>Classifier</a:t>
            </a:r>
            <a:endParaRPr lang="es-CO" sz="1650" noProof="0" dirty="0"/>
          </a:p>
        </p:txBody>
      </p:sp>
      <p:sp>
        <p:nvSpPr>
          <p:cNvPr id="26" name="SK-7-text-25"/>
          <p:cNvSpPr/>
          <p:nvPr/>
        </p:nvSpPr>
        <p:spPr>
          <a:xfrm>
            <a:off x="847725" y="2198340"/>
            <a:ext cx="1764060" cy="4000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3150"/>
              </a:lnSpc>
              <a:buNone/>
            </a:pPr>
            <a:r>
              <a:rPr lang="es-CO" sz="2100" b="1" noProof="0" dirty="0">
                <a:solidFill>
                  <a:srgbClr val="006B75"/>
                </a:solidFill>
              </a:rPr>
              <a:t>0.99</a:t>
            </a:r>
            <a:endParaRPr lang="es-CO" sz="2100" noProof="0" dirty="0"/>
          </a:p>
        </p:txBody>
      </p:sp>
      <p:sp>
        <p:nvSpPr>
          <p:cNvPr id="27" name="SK-7-text-26"/>
          <p:cNvSpPr/>
          <p:nvPr/>
        </p:nvSpPr>
        <p:spPr>
          <a:xfrm>
            <a:off x="1034355" y="2646015"/>
            <a:ext cx="139065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463"/>
              </a:lnSpc>
              <a:buNone/>
            </a:pPr>
            <a:r>
              <a:rPr lang="es-CO" sz="975" noProof="0" dirty="0">
                <a:solidFill>
                  <a:srgbClr val="6C767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ACCURACY GENERAL</a:t>
            </a:r>
            <a:endParaRPr lang="es-CO" sz="975" noProof="0" dirty="0"/>
          </a:p>
        </p:txBody>
      </p:sp>
      <p:sp>
        <p:nvSpPr>
          <p:cNvPr id="28" name="SK-7-text-27"/>
          <p:cNvSpPr/>
          <p:nvPr/>
        </p:nvSpPr>
        <p:spPr>
          <a:xfrm>
            <a:off x="2859435" y="2198340"/>
            <a:ext cx="1764060" cy="4000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3150"/>
              </a:lnSpc>
              <a:buNone/>
            </a:pPr>
            <a:r>
              <a:rPr lang="es-CO" sz="2100" b="1" noProof="0" dirty="0">
                <a:solidFill>
                  <a:srgbClr val="006B75"/>
                </a:solidFill>
              </a:rPr>
              <a:t>0.9</a:t>
            </a:r>
            <a:r>
              <a:rPr lang="es-CO" sz="2100" b="1" dirty="0">
                <a:solidFill>
                  <a:srgbClr val="006B75"/>
                </a:solidFill>
              </a:rPr>
              <a:t>5</a:t>
            </a:r>
            <a:endParaRPr lang="es-CO" sz="2100" noProof="0" dirty="0"/>
          </a:p>
        </p:txBody>
      </p:sp>
      <p:sp>
        <p:nvSpPr>
          <p:cNvPr id="29" name="SK-7-text-28"/>
          <p:cNvSpPr/>
          <p:nvPr/>
        </p:nvSpPr>
        <p:spPr>
          <a:xfrm>
            <a:off x="3103215" y="2646015"/>
            <a:ext cx="127635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463"/>
              </a:lnSpc>
              <a:buNone/>
            </a:pPr>
            <a:r>
              <a:rPr lang="es-CO" sz="975" noProof="0" dirty="0">
                <a:solidFill>
                  <a:srgbClr val="6C767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F1-SCORE (CLASE 1)</a:t>
            </a:r>
            <a:endParaRPr lang="es-CO" sz="975" noProof="0" dirty="0"/>
          </a:p>
        </p:txBody>
      </p:sp>
      <p:sp>
        <p:nvSpPr>
          <p:cNvPr id="30" name="SK-7-text-29"/>
          <p:cNvSpPr/>
          <p:nvPr/>
        </p:nvSpPr>
        <p:spPr>
          <a:xfrm>
            <a:off x="847725" y="3207990"/>
            <a:ext cx="1764060" cy="4000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3150"/>
              </a:lnSpc>
              <a:buNone/>
            </a:pPr>
            <a:r>
              <a:rPr lang="es-CO" sz="2100" b="1" noProof="0" dirty="0">
                <a:solidFill>
                  <a:srgbClr val="006B75"/>
                </a:solidFill>
              </a:rPr>
              <a:t>0.92</a:t>
            </a:r>
            <a:endParaRPr lang="es-CO" sz="2100" noProof="0" dirty="0"/>
          </a:p>
        </p:txBody>
      </p:sp>
      <p:sp>
        <p:nvSpPr>
          <p:cNvPr id="31" name="SK-7-text-30"/>
          <p:cNvSpPr/>
          <p:nvPr/>
        </p:nvSpPr>
        <p:spPr>
          <a:xfrm>
            <a:off x="1158180" y="3655665"/>
            <a:ext cx="114300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463"/>
              </a:lnSpc>
              <a:buNone/>
            </a:pPr>
            <a:r>
              <a:rPr lang="es-CO" sz="975" noProof="0" dirty="0">
                <a:solidFill>
                  <a:srgbClr val="6C767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RECALL (CLASE 1)</a:t>
            </a:r>
            <a:endParaRPr lang="es-CO" sz="975" noProof="0" dirty="0"/>
          </a:p>
        </p:txBody>
      </p:sp>
      <p:sp>
        <p:nvSpPr>
          <p:cNvPr id="32" name="SK-7-text-31"/>
          <p:cNvSpPr/>
          <p:nvPr/>
        </p:nvSpPr>
        <p:spPr>
          <a:xfrm>
            <a:off x="2859435" y="3207990"/>
            <a:ext cx="1764060" cy="4000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3150"/>
              </a:lnSpc>
              <a:buNone/>
            </a:pPr>
            <a:r>
              <a:rPr lang="es-CO" sz="2100" b="1" noProof="0" dirty="0">
                <a:solidFill>
                  <a:srgbClr val="006B75"/>
                </a:solidFill>
              </a:rPr>
              <a:t>0.99</a:t>
            </a:r>
            <a:endParaRPr lang="es-CO" sz="2100" noProof="0" dirty="0"/>
          </a:p>
        </p:txBody>
      </p:sp>
      <p:sp>
        <p:nvSpPr>
          <p:cNvPr id="33" name="SK-7-text-32"/>
          <p:cNvSpPr/>
          <p:nvPr/>
        </p:nvSpPr>
        <p:spPr>
          <a:xfrm>
            <a:off x="3069878" y="3655665"/>
            <a:ext cx="1343025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463"/>
              </a:lnSpc>
              <a:buNone/>
            </a:pPr>
            <a:r>
              <a:rPr lang="es-CO" sz="975" noProof="0" dirty="0">
                <a:solidFill>
                  <a:srgbClr val="6C767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PRECISION (CLASE 1)</a:t>
            </a:r>
            <a:endParaRPr lang="es-CO" sz="975" noProof="0" dirty="0"/>
          </a:p>
        </p:txBody>
      </p:sp>
      <p:sp>
        <p:nvSpPr>
          <p:cNvPr id="34" name="SK-7-text-33"/>
          <p:cNvSpPr/>
          <p:nvPr/>
        </p:nvSpPr>
        <p:spPr>
          <a:xfrm>
            <a:off x="914400" y="4293840"/>
            <a:ext cx="3916680" cy="2000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s-CO" sz="1050" b="1" noProof="0" dirty="0">
                <a:solidFill>
                  <a:srgbClr val="444B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Configuración del Modelo</a:t>
            </a:r>
            <a:endParaRPr lang="es-CO" sz="1050" noProof="0" dirty="0"/>
          </a:p>
        </p:txBody>
      </p:sp>
      <p:sp>
        <p:nvSpPr>
          <p:cNvPr id="35" name="SK-7-text-34"/>
          <p:cNvSpPr/>
          <p:nvPr/>
        </p:nvSpPr>
        <p:spPr>
          <a:xfrm>
            <a:off x="1009650" y="4570065"/>
            <a:ext cx="2251490" cy="2476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350"/>
              </a:lnSpc>
              <a:buNone/>
            </a:pPr>
            <a:r>
              <a:rPr lang="es-CO" sz="900" noProof="0" dirty="0" err="1">
                <a:solidFill>
                  <a:srgbClr val="444B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n_estimators</a:t>
            </a:r>
            <a:r>
              <a:rPr lang="es-CO" sz="900" noProof="0" dirty="0">
                <a:solidFill>
                  <a:srgbClr val="444B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100</a:t>
            </a:r>
            <a:endParaRPr lang="es-CO" sz="900" noProof="0" dirty="0"/>
          </a:p>
        </p:txBody>
      </p:sp>
      <p:sp>
        <p:nvSpPr>
          <p:cNvPr id="36" name="SK-7-text-35"/>
          <p:cNvSpPr/>
          <p:nvPr/>
        </p:nvSpPr>
        <p:spPr>
          <a:xfrm>
            <a:off x="2238375" y="4570065"/>
            <a:ext cx="1656678" cy="2476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350"/>
              </a:lnSpc>
              <a:buNone/>
            </a:pPr>
            <a:r>
              <a:rPr lang="es-CO" sz="900" noProof="0" dirty="0" err="1">
                <a:solidFill>
                  <a:srgbClr val="444B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max_depth</a:t>
            </a:r>
            <a:r>
              <a:rPr lang="es-CO" sz="900" noProof="0" dirty="0">
                <a:solidFill>
                  <a:srgbClr val="444B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12</a:t>
            </a:r>
            <a:endParaRPr lang="es-CO" sz="900" noProof="0" dirty="0"/>
          </a:p>
        </p:txBody>
      </p:sp>
      <p:sp>
        <p:nvSpPr>
          <p:cNvPr id="37" name="SK-7-text-36"/>
          <p:cNvSpPr/>
          <p:nvPr/>
        </p:nvSpPr>
        <p:spPr>
          <a:xfrm>
            <a:off x="3286125" y="4570065"/>
            <a:ext cx="2057400" cy="2476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350"/>
              </a:lnSpc>
              <a:buNone/>
            </a:pPr>
            <a:r>
              <a:rPr lang="es-CO" sz="900" noProof="0" dirty="0" err="1">
                <a:solidFill>
                  <a:srgbClr val="444B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random_state</a:t>
            </a:r>
            <a:r>
              <a:rPr lang="es-CO" sz="900" noProof="0" dirty="0">
                <a:solidFill>
                  <a:srgbClr val="444B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42</a:t>
            </a:r>
            <a:endParaRPr lang="es-CO" sz="900" noProof="0" dirty="0"/>
          </a:p>
        </p:txBody>
      </p:sp>
      <p:sp>
        <p:nvSpPr>
          <p:cNvPr id="38" name="SK-7-text-37"/>
          <p:cNvSpPr/>
          <p:nvPr/>
        </p:nvSpPr>
        <p:spPr>
          <a:xfrm>
            <a:off x="1009650" y="4893915"/>
            <a:ext cx="1852749" cy="2476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350"/>
              </a:lnSpc>
              <a:buNone/>
            </a:pPr>
            <a:r>
              <a:rPr lang="es-CO" sz="900" noProof="0" dirty="0" err="1">
                <a:solidFill>
                  <a:srgbClr val="444B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stratify</a:t>
            </a:r>
            <a:r>
              <a:rPr lang="es-CO" sz="900" noProof="0" dirty="0">
                <a:solidFill>
                  <a:srgbClr val="444B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Activo</a:t>
            </a:r>
            <a:endParaRPr lang="es-CO" sz="900" noProof="0" dirty="0"/>
          </a:p>
        </p:txBody>
      </p:sp>
      <p:sp>
        <p:nvSpPr>
          <p:cNvPr id="39" name="SK-7-text-38"/>
          <p:cNvSpPr/>
          <p:nvPr/>
        </p:nvSpPr>
        <p:spPr>
          <a:xfrm>
            <a:off x="5495032" y="1722983"/>
            <a:ext cx="6696968" cy="2571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2025"/>
              </a:lnSpc>
              <a:buNone/>
            </a:pPr>
            <a:r>
              <a:rPr lang="es-CO" sz="1350" b="1" noProof="0" dirty="0">
                <a:solidFill>
                  <a:srgbClr val="1A1C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Captura de relaciones no lineales</a:t>
            </a:r>
            <a:endParaRPr lang="es-CO" sz="1350" noProof="0" dirty="0"/>
          </a:p>
        </p:txBody>
      </p:sp>
      <p:sp>
        <p:nvSpPr>
          <p:cNvPr id="40" name="SK-7-text-39"/>
          <p:cNvSpPr/>
          <p:nvPr/>
        </p:nvSpPr>
        <p:spPr>
          <a:xfrm>
            <a:off x="5495032" y="2018258"/>
            <a:ext cx="6125468" cy="4000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575"/>
              </a:lnSpc>
              <a:buNone/>
            </a:pPr>
            <a:r>
              <a:rPr lang="es-CO" sz="1125" noProof="0" dirty="0">
                <a:solidFill>
                  <a:srgbClr val="444B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diferencia del modelo base, identifica combinaciones complejas entre horas trabajadas y satisfacción.</a:t>
            </a:r>
            <a:endParaRPr lang="es-CO" sz="1125" noProof="0" dirty="0"/>
          </a:p>
        </p:txBody>
      </p:sp>
      <p:sp>
        <p:nvSpPr>
          <p:cNvPr id="41" name="SK-7-text-40"/>
          <p:cNvSpPr/>
          <p:nvPr/>
        </p:nvSpPr>
        <p:spPr>
          <a:xfrm>
            <a:off x="5495032" y="2570708"/>
            <a:ext cx="6463665" cy="2571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2025"/>
              </a:lnSpc>
              <a:buNone/>
            </a:pPr>
            <a:r>
              <a:rPr lang="es-CO" sz="1350" b="1" noProof="0" dirty="0">
                <a:solidFill>
                  <a:srgbClr val="1A1C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Detección de patrones complejos</a:t>
            </a:r>
            <a:endParaRPr lang="es-CO" sz="1350" noProof="0" dirty="0"/>
          </a:p>
        </p:txBody>
      </p:sp>
      <p:sp>
        <p:nvSpPr>
          <p:cNvPr id="42" name="SK-7-text-41"/>
          <p:cNvSpPr/>
          <p:nvPr/>
        </p:nvSpPr>
        <p:spPr>
          <a:xfrm>
            <a:off x="5495032" y="2865983"/>
            <a:ext cx="6125468" cy="4000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575"/>
              </a:lnSpc>
              <a:buNone/>
            </a:pPr>
            <a:r>
              <a:rPr lang="es-CO" sz="1125" noProof="0" dirty="0">
                <a:solidFill>
                  <a:srgbClr val="444B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Identifica segmentos de riesgo no separables linealmente (como la subutilización vs. sobrecarga).</a:t>
            </a:r>
            <a:endParaRPr lang="es-CO" sz="1125" noProof="0" dirty="0"/>
          </a:p>
        </p:txBody>
      </p:sp>
      <p:sp>
        <p:nvSpPr>
          <p:cNvPr id="43" name="SK-7-text-42"/>
          <p:cNvSpPr/>
          <p:nvPr/>
        </p:nvSpPr>
        <p:spPr>
          <a:xfrm>
            <a:off x="5495032" y="3418433"/>
            <a:ext cx="6211193" cy="2571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2025"/>
              </a:lnSpc>
              <a:buNone/>
            </a:pPr>
            <a:r>
              <a:rPr lang="es-CO" sz="1350" b="1" noProof="0" dirty="0">
                <a:solidFill>
                  <a:srgbClr val="1A1C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Control de sobreajuste</a:t>
            </a:r>
            <a:endParaRPr lang="es-CO" sz="1350" noProof="0" dirty="0"/>
          </a:p>
        </p:txBody>
      </p:sp>
      <p:sp>
        <p:nvSpPr>
          <p:cNvPr id="44" name="SK-7-text-43"/>
          <p:cNvSpPr/>
          <p:nvPr/>
        </p:nvSpPr>
        <p:spPr>
          <a:xfrm>
            <a:off x="5495032" y="3713708"/>
            <a:ext cx="6125468" cy="4000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575"/>
              </a:lnSpc>
              <a:buNone/>
            </a:pPr>
            <a:r>
              <a:rPr lang="es-CO" sz="1125" noProof="0" dirty="0">
                <a:solidFill>
                  <a:srgbClr val="444B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restricción de profundidad máxima (</a:t>
            </a:r>
            <a:r>
              <a:rPr lang="es-CO" sz="1125" noProof="0" dirty="0" err="1">
                <a:solidFill>
                  <a:srgbClr val="444B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max_depth</a:t>
            </a:r>
            <a:r>
              <a:rPr lang="es-CO" sz="1125" noProof="0" dirty="0">
                <a:solidFill>
                  <a:srgbClr val="444B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=12) asegura estabilidad entre entrenamiento y prueba.</a:t>
            </a:r>
            <a:endParaRPr lang="es-CO" sz="1125" noProof="0" dirty="0"/>
          </a:p>
        </p:txBody>
      </p:sp>
      <p:sp>
        <p:nvSpPr>
          <p:cNvPr id="45" name="SK-7-text-44"/>
          <p:cNvSpPr/>
          <p:nvPr/>
        </p:nvSpPr>
        <p:spPr>
          <a:xfrm>
            <a:off x="5495032" y="4266158"/>
            <a:ext cx="6257925" cy="2571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2025"/>
              </a:lnSpc>
              <a:buNone/>
            </a:pPr>
            <a:r>
              <a:rPr lang="es-CO" sz="1350" b="1" noProof="0" dirty="0">
                <a:solidFill>
                  <a:srgbClr val="1A1C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Interpretabilidad de variables</a:t>
            </a:r>
            <a:endParaRPr lang="es-CO" sz="1350" noProof="0" dirty="0"/>
          </a:p>
        </p:txBody>
      </p:sp>
      <p:sp>
        <p:nvSpPr>
          <p:cNvPr id="46" name="SK-7-text-45"/>
          <p:cNvSpPr/>
          <p:nvPr/>
        </p:nvSpPr>
        <p:spPr>
          <a:xfrm>
            <a:off x="5495032" y="4561433"/>
            <a:ext cx="6125468" cy="4000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575"/>
              </a:lnSpc>
              <a:buNone/>
            </a:pPr>
            <a:r>
              <a:rPr lang="es-CO" sz="1125" noProof="0" dirty="0">
                <a:solidFill>
                  <a:srgbClr val="444B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Permite cuantificar la importancia de cada factor para fundamentar las estrategias de Recursos Humanos.</a:t>
            </a:r>
            <a:endParaRPr lang="es-CO" sz="1125" noProof="0" dirty="0"/>
          </a:p>
        </p:txBody>
      </p:sp>
      <p:sp>
        <p:nvSpPr>
          <p:cNvPr id="47" name="SK-7-text-46"/>
          <p:cNvSpPr/>
          <p:nvPr/>
        </p:nvSpPr>
        <p:spPr>
          <a:xfrm>
            <a:off x="5585520" y="5456783"/>
            <a:ext cx="611118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s-CO" sz="1200" noProof="0" dirty="0">
                <a:solidFill>
                  <a:srgbClr val="006B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Supera significativamente a la Regresión Logística en la detección de empleados en riesgo real de salida (</a:t>
            </a:r>
            <a:r>
              <a:rPr lang="es-CO" sz="1200" noProof="0" dirty="0" err="1">
                <a:solidFill>
                  <a:srgbClr val="006B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Recall</a:t>
            </a:r>
            <a:r>
              <a:rPr lang="es-CO" sz="1200" noProof="0" dirty="0">
                <a:solidFill>
                  <a:srgbClr val="006B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0.92 vs 0.21)</a:t>
            </a:r>
            <a:endParaRPr lang="es-CO" sz="1200" noProof="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SK-8-img-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47650"/>
            <a:ext cx="11049000" cy="664815"/>
          </a:xfrm>
          <a:prstGeom prst="rect">
            <a:avLst/>
          </a:prstGeom>
        </p:spPr>
      </p:pic>
      <p:pic>
        <p:nvPicPr>
          <p:cNvPr id="5" name="SK-8-img-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1055340"/>
            <a:ext cx="5313164" cy="4861322"/>
          </a:xfrm>
          <a:prstGeom prst="rect">
            <a:avLst/>
          </a:prstGeom>
        </p:spPr>
      </p:pic>
      <p:pic>
        <p:nvPicPr>
          <p:cNvPr id="6" name="SK-8-img-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41864" y="1307009"/>
            <a:ext cx="5278636" cy="1177975"/>
          </a:xfrm>
          <a:prstGeom prst="rect">
            <a:avLst/>
          </a:prstGeom>
        </p:spPr>
      </p:pic>
      <p:pic>
        <p:nvPicPr>
          <p:cNvPr id="7" name="SK-8-img-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32364" y="1430834"/>
            <a:ext cx="419100" cy="419100"/>
          </a:xfrm>
          <a:prstGeom prst="rect">
            <a:avLst/>
          </a:prstGeom>
        </p:spPr>
      </p:pic>
      <p:pic>
        <p:nvPicPr>
          <p:cNvPr id="8" name="SK-8-img-7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41864" y="2580233"/>
            <a:ext cx="5278636" cy="964704"/>
          </a:xfrm>
          <a:prstGeom prst="rect">
            <a:avLst/>
          </a:prstGeom>
        </p:spPr>
      </p:pic>
      <p:pic>
        <p:nvPicPr>
          <p:cNvPr id="9" name="SK-8-img-8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32364" y="2704058"/>
            <a:ext cx="419100" cy="419100"/>
          </a:xfrm>
          <a:prstGeom prst="rect">
            <a:avLst/>
          </a:prstGeom>
        </p:spPr>
      </p:pic>
      <p:pic>
        <p:nvPicPr>
          <p:cNvPr id="10" name="SK-8-img-9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41864" y="3640187"/>
            <a:ext cx="5278636" cy="964704"/>
          </a:xfrm>
          <a:prstGeom prst="rect">
            <a:avLst/>
          </a:prstGeom>
        </p:spPr>
      </p:pic>
      <p:pic>
        <p:nvPicPr>
          <p:cNvPr id="11" name="SK-8-img-10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32364" y="3764012"/>
            <a:ext cx="419100" cy="419100"/>
          </a:xfrm>
          <a:prstGeom prst="rect">
            <a:avLst/>
          </a:prstGeom>
        </p:spPr>
      </p:pic>
      <p:pic>
        <p:nvPicPr>
          <p:cNvPr id="12" name="SK-8-img-11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41864" y="4700141"/>
            <a:ext cx="5278636" cy="964704"/>
          </a:xfrm>
          <a:prstGeom prst="rect">
            <a:avLst/>
          </a:prstGeom>
        </p:spPr>
      </p:pic>
      <p:pic>
        <p:nvPicPr>
          <p:cNvPr id="13" name="SK-8-img-12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32364" y="4823966"/>
            <a:ext cx="419100" cy="419100"/>
          </a:xfrm>
          <a:prstGeom prst="rect">
            <a:avLst/>
          </a:prstGeom>
        </p:spPr>
      </p:pic>
      <p:pic>
        <p:nvPicPr>
          <p:cNvPr id="14" name="SK-8-img-13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71500" y="6164312"/>
            <a:ext cx="11049000" cy="619125"/>
          </a:xfrm>
          <a:prstGeom prst="rect">
            <a:avLst/>
          </a:prstGeom>
        </p:spPr>
      </p:pic>
      <p:pic>
        <p:nvPicPr>
          <p:cNvPr id="15" name="SK-8-img-14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00100" y="6365677"/>
            <a:ext cx="238125" cy="216396"/>
          </a:xfrm>
          <a:prstGeom prst="rect">
            <a:avLst/>
          </a:prstGeom>
        </p:spPr>
      </p:pic>
      <p:sp>
        <p:nvSpPr>
          <p:cNvPr id="16" name="SK-8-text-15"/>
          <p:cNvSpPr/>
          <p:nvPr/>
        </p:nvSpPr>
        <p:spPr>
          <a:xfrm>
            <a:off x="762000" y="247650"/>
            <a:ext cx="10934700" cy="2000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1800"/>
              </a:lnSpc>
            </a:pPr>
            <a:r>
              <a:rPr lang="es-CO" sz="1050" b="1" kern="0" spc="120" dirty="0">
                <a:solidFill>
                  <a:srgbClr val="006B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PROYECTO FINAL </a:t>
            </a:r>
            <a:r>
              <a:rPr lang="es-CO" sz="1050" b="1" kern="0" spc="120" dirty="0" err="1">
                <a:solidFill>
                  <a:srgbClr val="006B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Dataxperience</a:t>
            </a:r>
            <a:endParaRPr lang="es-CO" sz="1050" dirty="0"/>
          </a:p>
        </p:txBody>
      </p:sp>
      <p:sp>
        <p:nvSpPr>
          <p:cNvPr id="17" name="SK-8-text-16"/>
          <p:cNvSpPr/>
          <p:nvPr/>
        </p:nvSpPr>
        <p:spPr>
          <a:xfrm>
            <a:off x="762000" y="523875"/>
            <a:ext cx="11430000" cy="38859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3060"/>
              </a:lnSpc>
              <a:buNone/>
            </a:pPr>
            <a:r>
              <a:rPr lang="es-CO" sz="2550" b="1" noProof="0" dirty="0">
                <a:solidFill>
                  <a:srgbClr val="1A1C1E"/>
                </a:solidFill>
              </a:rPr>
              <a:t>Factores Más Relevantes para la Rotación</a:t>
            </a:r>
            <a:endParaRPr lang="es-CO" sz="2550" noProof="0" dirty="0"/>
          </a:p>
        </p:txBody>
      </p:sp>
      <p:sp>
        <p:nvSpPr>
          <p:cNvPr id="18" name="SK-8-text-17"/>
          <p:cNvSpPr/>
          <p:nvPr/>
        </p:nvSpPr>
        <p:spPr>
          <a:xfrm>
            <a:off x="1028700" y="1417290"/>
            <a:ext cx="5029200" cy="1143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9000"/>
              </a:lnSpc>
              <a:buNone/>
            </a:pPr>
            <a:r>
              <a:rPr lang="es-CO" sz="9000" b="1" noProof="0" dirty="0">
                <a:solidFill>
                  <a:srgbClr val="006B75">
                    <a:alpha val="20000"/>
                  </a:srgbClr>
                </a:solidFill>
              </a:rPr>
              <a:t>01</a:t>
            </a:r>
            <a:endParaRPr lang="es-CO" sz="9000" noProof="0" dirty="0"/>
          </a:p>
        </p:txBody>
      </p:sp>
      <p:sp>
        <p:nvSpPr>
          <p:cNvPr id="19" name="SK-8-text-18"/>
          <p:cNvSpPr/>
          <p:nvPr/>
        </p:nvSpPr>
        <p:spPr>
          <a:xfrm>
            <a:off x="1028700" y="2712690"/>
            <a:ext cx="4398764" cy="87987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3465"/>
              </a:lnSpc>
              <a:buNone/>
            </a:pPr>
            <a:r>
              <a:rPr lang="es-CO" sz="3150" b="1" noProof="0" dirty="0">
                <a:solidFill>
                  <a:srgbClr val="1A1C1E"/>
                </a:solidFill>
              </a:rPr>
              <a:t>Nivel de</a:t>
            </a:r>
            <a:endParaRPr lang="es-CO" sz="3150" noProof="0" dirty="0"/>
          </a:p>
          <a:p>
            <a:pPr marL="0" indent="0">
              <a:lnSpc>
                <a:spcPts val="3465"/>
              </a:lnSpc>
              <a:buNone/>
            </a:pPr>
            <a:r>
              <a:rPr lang="es-CO" sz="3150" b="1" noProof="0" dirty="0">
                <a:solidFill>
                  <a:srgbClr val="1A1C1E"/>
                </a:solidFill>
              </a:rPr>
              <a:t>Satisfacción</a:t>
            </a:r>
            <a:endParaRPr lang="es-CO" sz="3150" noProof="0" dirty="0"/>
          </a:p>
        </p:txBody>
      </p:sp>
      <p:sp>
        <p:nvSpPr>
          <p:cNvPr id="20" name="SK-8-text-19"/>
          <p:cNvSpPr/>
          <p:nvPr/>
        </p:nvSpPr>
        <p:spPr>
          <a:xfrm>
            <a:off x="1028700" y="3773537"/>
            <a:ext cx="4398764" cy="1219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s-CO" sz="1500" noProof="0" dirty="0">
                <a:solidFill>
                  <a:srgbClr val="444B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Principal predictor del modelo. Un bajo nivel de satisfacción laboral es el detonante crítico que incrementa exponencialmente el riesgo de salida.</a:t>
            </a:r>
            <a:endParaRPr lang="es-CO" sz="1500" noProof="0" dirty="0"/>
          </a:p>
        </p:txBody>
      </p:sp>
      <p:sp>
        <p:nvSpPr>
          <p:cNvPr id="21" name="SK-8-textBg-20"/>
          <p:cNvSpPr/>
          <p:nvPr/>
        </p:nvSpPr>
        <p:spPr>
          <a:xfrm>
            <a:off x="1028700" y="5240387"/>
            <a:ext cx="1914525" cy="314325"/>
          </a:xfrm>
          <a:prstGeom prst="roundRect">
            <a:avLst>
              <a:gd name="adj" fmla="val 12121"/>
            </a:avLst>
          </a:prstGeom>
          <a:solidFill>
            <a:srgbClr val="006B75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 noProof="0" dirty="0"/>
          </a:p>
        </p:txBody>
      </p:sp>
      <p:sp>
        <p:nvSpPr>
          <p:cNvPr id="22" name="SK-8-text-21"/>
          <p:cNvSpPr/>
          <p:nvPr/>
        </p:nvSpPr>
        <p:spPr>
          <a:xfrm>
            <a:off x="1181100" y="5240387"/>
            <a:ext cx="2556339" cy="3143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s-CO" sz="1050" b="1" noProof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FACTOR DETERMINANTE</a:t>
            </a:r>
            <a:endParaRPr lang="es-CO" sz="1050" noProof="0" dirty="0"/>
          </a:p>
        </p:txBody>
      </p:sp>
      <p:sp>
        <p:nvSpPr>
          <p:cNvPr id="23" name="SK-8-text-22"/>
          <p:cNvSpPr/>
          <p:nvPr/>
        </p:nvSpPr>
        <p:spPr>
          <a:xfrm>
            <a:off x="6627614" y="1430834"/>
            <a:ext cx="771525" cy="4191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025"/>
              </a:lnSpc>
              <a:buNone/>
            </a:pPr>
            <a:r>
              <a:rPr lang="es-CO" sz="1350" b="1" noProof="0" dirty="0">
                <a:solidFill>
                  <a:srgbClr val="444B50"/>
                </a:solidFill>
              </a:rPr>
              <a:t>02</a:t>
            </a:r>
            <a:endParaRPr lang="es-CO" sz="1350" noProof="0" dirty="0"/>
          </a:p>
        </p:txBody>
      </p:sp>
      <p:sp>
        <p:nvSpPr>
          <p:cNvPr id="24" name="SK-8-text-23"/>
          <p:cNvSpPr/>
          <p:nvPr/>
        </p:nvSpPr>
        <p:spPr>
          <a:xfrm>
            <a:off x="7141964" y="1430834"/>
            <a:ext cx="4378523" cy="27146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138"/>
              </a:lnSpc>
              <a:buNone/>
            </a:pPr>
            <a:r>
              <a:rPr lang="es-CO" sz="1425" b="1" noProof="0" dirty="0">
                <a:solidFill>
                  <a:srgbClr val="1A1C1E"/>
                </a:solidFill>
              </a:rPr>
              <a:t>Número de Proyectos</a:t>
            </a:r>
            <a:endParaRPr lang="es-CO" sz="1425" noProof="0" dirty="0"/>
          </a:p>
        </p:txBody>
      </p:sp>
      <p:sp>
        <p:nvSpPr>
          <p:cNvPr id="25" name="SK-8-text-24"/>
          <p:cNvSpPr/>
          <p:nvPr/>
        </p:nvSpPr>
        <p:spPr>
          <a:xfrm>
            <a:off x="7141964" y="1721346"/>
            <a:ext cx="4288036" cy="63981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0"/>
              </a:lnSpc>
              <a:buNone/>
            </a:pPr>
            <a:r>
              <a:rPr lang="es-CO" sz="1200" noProof="0" dirty="0">
                <a:solidFill>
                  <a:srgbClr val="6C767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Refleja desequilibrios operativos: tanto la sobrecarga extrema como la subutilización generan intención de abandono.</a:t>
            </a:r>
            <a:endParaRPr lang="es-CO" sz="1200" noProof="0" dirty="0"/>
          </a:p>
        </p:txBody>
      </p:sp>
      <p:sp>
        <p:nvSpPr>
          <p:cNvPr id="26" name="SK-8-text-25"/>
          <p:cNvSpPr/>
          <p:nvPr/>
        </p:nvSpPr>
        <p:spPr>
          <a:xfrm>
            <a:off x="6627614" y="2704058"/>
            <a:ext cx="771525" cy="4191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025"/>
              </a:lnSpc>
              <a:buNone/>
            </a:pPr>
            <a:r>
              <a:rPr lang="es-CO" sz="1350" b="1" noProof="0" dirty="0">
                <a:solidFill>
                  <a:srgbClr val="444B50"/>
                </a:solidFill>
              </a:rPr>
              <a:t>03</a:t>
            </a:r>
            <a:endParaRPr lang="es-CO" sz="1350" noProof="0" dirty="0"/>
          </a:p>
        </p:txBody>
      </p:sp>
      <p:sp>
        <p:nvSpPr>
          <p:cNvPr id="27" name="SK-8-text-26"/>
          <p:cNvSpPr/>
          <p:nvPr/>
        </p:nvSpPr>
        <p:spPr>
          <a:xfrm>
            <a:off x="7141964" y="2704058"/>
            <a:ext cx="5050036" cy="27146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138"/>
              </a:lnSpc>
              <a:buNone/>
            </a:pPr>
            <a:r>
              <a:rPr lang="es-CO" sz="1425" b="1" noProof="0" dirty="0">
                <a:solidFill>
                  <a:srgbClr val="1A1C1E"/>
                </a:solidFill>
              </a:rPr>
              <a:t>Horas Mensuales Promedio</a:t>
            </a:r>
            <a:endParaRPr lang="es-CO" sz="1425" noProof="0" dirty="0"/>
          </a:p>
        </p:txBody>
      </p:sp>
      <p:sp>
        <p:nvSpPr>
          <p:cNvPr id="28" name="SK-8-text-27"/>
          <p:cNvSpPr/>
          <p:nvPr/>
        </p:nvSpPr>
        <p:spPr>
          <a:xfrm>
            <a:off x="7141964" y="2994571"/>
            <a:ext cx="4288036" cy="42654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0"/>
              </a:lnSpc>
              <a:buNone/>
            </a:pPr>
            <a:r>
              <a:rPr lang="es-CO" sz="1200" noProof="0" dirty="0">
                <a:solidFill>
                  <a:srgbClr val="6C767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Permite detectar fatiga laboral por exceso de trabajo o falta de integración por baja participación.</a:t>
            </a:r>
            <a:endParaRPr lang="es-CO" sz="1200" noProof="0" dirty="0"/>
          </a:p>
        </p:txBody>
      </p:sp>
      <p:sp>
        <p:nvSpPr>
          <p:cNvPr id="29" name="SK-8-text-28"/>
          <p:cNvSpPr/>
          <p:nvPr/>
        </p:nvSpPr>
        <p:spPr>
          <a:xfrm>
            <a:off x="6622852" y="3764012"/>
            <a:ext cx="771525" cy="4191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025"/>
              </a:lnSpc>
              <a:buNone/>
            </a:pPr>
            <a:r>
              <a:rPr lang="es-CO" sz="1350" b="1" noProof="0" dirty="0">
                <a:solidFill>
                  <a:srgbClr val="444B50"/>
                </a:solidFill>
              </a:rPr>
              <a:t>04</a:t>
            </a:r>
            <a:endParaRPr lang="es-CO" sz="1350" noProof="0" dirty="0"/>
          </a:p>
        </p:txBody>
      </p:sp>
      <p:sp>
        <p:nvSpPr>
          <p:cNvPr id="30" name="SK-8-text-29"/>
          <p:cNvSpPr/>
          <p:nvPr/>
        </p:nvSpPr>
        <p:spPr>
          <a:xfrm>
            <a:off x="7141964" y="3764012"/>
            <a:ext cx="4651058" cy="27146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138"/>
              </a:lnSpc>
              <a:buNone/>
            </a:pPr>
            <a:r>
              <a:rPr lang="es-CO" sz="1425" b="1" noProof="0" dirty="0">
                <a:solidFill>
                  <a:srgbClr val="1A1C1E"/>
                </a:solidFill>
              </a:rPr>
              <a:t>Tiempo en la Compañía</a:t>
            </a:r>
            <a:endParaRPr lang="es-CO" sz="1425" noProof="0" dirty="0"/>
          </a:p>
        </p:txBody>
      </p:sp>
      <p:sp>
        <p:nvSpPr>
          <p:cNvPr id="31" name="SK-8-text-30"/>
          <p:cNvSpPr/>
          <p:nvPr/>
        </p:nvSpPr>
        <p:spPr>
          <a:xfrm>
            <a:off x="7141964" y="4054525"/>
            <a:ext cx="4288036" cy="42654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0"/>
              </a:lnSpc>
              <a:buNone/>
            </a:pPr>
            <a:r>
              <a:rPr lang="es-CO" sz="1200" noProof="0" dirty="0">
                <a:solidFill>
                  <a:srgbClr val="6C767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Existe una "zona crítica de antigüedad" identificada entre los 3 y 5 años donde la rotación es más frecuente.</a:t>
            </a:r>
            <a:endParaRPr lang="es-CO" sz="1200" noProof="0" dirty="0"/>
          </a:p>
        </p:txBody>
      </p:sp>
      <p:sp>
        <p:nvSpPr>
          <p:cNvPr id="32" name="SK-8-text-31"/>
          <p:cNvSpPr/>
          <p:nvPr/>
        </p:nvSpPr>
        <p:spPr>
          <a:xfrm>
            <a:off x="6627614" y="4823966"/>
            <a:ext cx="771525" cy="4191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025"/>
              </a:lnSpc>
              <a:buNone/>
            </a:pPr>
            <a:r>
              <a:rPr lang="es-CO" sz="1350" b="1" noProof="0" dirty="0">
                <a:solidFill>
                  <a:srgbClr val="444B50"/>
                </a:solidFill>
              </a:rPr>
              <a:t>05</a:t>
            </a:r>
            <a:endParaRPr lang="es-CO" sz="1350" noProof="0" dirty="0"/>
          </a:p>
        </p:txBody>
      </p:sp>
      <p:sp>
        <p:nvSpPr>
          <p:cNvPr id="33" name="SK-8-text-32"/>
          <p:cNvSpPr/>
          <p:nvPr/>
        </p:nvSpPr>
        <p:spPr>
          <a:xfrm>
            <a:off x="7141964" y="4823966"/>
            <a:ext cx="4378523" cy="27146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138"/>
              </a:lnSpc>
              <a:buNone/>
            </a:pPr>
            <a:r>
              <a:rPr lang="es-CO" sz="1425" b="1" noProof="0" dirty="0">
                <a:solidFill>
                  <a:srgbClr val="1A1C1E"/>
                </a:solidFill>
              </a:rPr>
              <a:t>Última Evaluación</a:t>
            </a:r>
            <a:endParaRPr lang="es-CO" sz="1425" noProof="0" dirty="0"/>
          </a:p>
        </p:txBody>
      </p:sp>
      <p:sp>
        <p:nvSpPr>
          <p:cNvPr id="34" name="SK-8-text-33"/>
          <p:cNvSpPr/>
          <p:nvPr/>
        </p:nvSpPr>
        <p:spPr>
          <a:xfrm>
            <a:off x="7141964" y="5114479"/>
            <a:ext cx="4288036" cy="42654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0"/>
              </a:lnSpc>
              <a:buNone/>
            </a:pPr>
            <a:r>
              <a:rPr lang="es-CO" sz="1200" noProof="0" dirty="0">
                <a:solidFill>
                  <a:srgbClr val="6C767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Afecta el riesgo tanto en bajo rendimiento como en alto rendimiento si no hay oportunidades de crecimiento claras.</a:t>
            </a:r>
            <a:endParaRPr lang="es-CO" sz="1200" noProof="0" dirty="0"/>
          </a:p>
        </p:txBody>
      </p:sp>
      <p:sp>
        <p:nvSpPr>
          <p:cNvPr id="35" name="SK-8-text-34"/>
          <p:cNvSpPr/>
          <p:nvPr/>
        </p:nvSpPr>
        <p:spPr>
          <a:xfrm>
            <a:off x="1190625" y="6259562"/>
            <a:ext cx="10201275" cy="4286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8"/>
              </a:lnSpc>
              <a:buNone/>
            </a:pPr>
            <a:r>
              <a:rPr lang="es-CO" sz="1125" b="1" noProof="0" dirty="0">
                <a:solidFill>
                  <a:srgbClr val="1A1C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Hallazgo Estratégico:</a:t>
            </a:r>
            <a:r>
              <a:rPr lang="es-CO" sz="1125" noProof="0" dirty="0">
                <a:solidFill>
                  <a:srgbClr val="444B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El </a:t>
            </a:r>
            <a:r>
              <a:rPr lang="es-CO" sz="1125" b="1" noProof="0" dirty="0">
                <a:solidFill>
                  <a:srgbClr val="1A1C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salario</a:t>
            </a:r>
            <a:r>
              <a:rPr lang="es-CO" sz="1125" noProof="0" dirty="0">
                <a:solidFill>
                  <a:srgbClr val="444B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y el </a:t>
            </a:r>
            <a:r>
              <a:rPr lang="es-CO" sz="1125" b="1" noProof="0" dirty="0">
                <a:solidFill>
                  <a:srgbClr val="1A1C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departamento</a:t>
            </a:r>
            <a:r>
              <a:rPr lang="es-CO" sz="1125" noProof="0" dirty="0">
                <a:solidFill>
                  <a:srgbClr val="444B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presentan un peso predictivo significativamente bajo. El problema es principalmente de clima y gestión de carga.</a:t>
            </a:r>
            <a:endParaRPr lang="es-CO" sz="1125" noProof="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SK-1-img-3" descr="preencoded.png">
            <a:extLst>
              <a:ext uri="{FF2B5EF4-FFF2-40B4-BE49-F238E27FC236}">
                <a16:creationId xmlns:a16="http://schemas.microsoft.com/office/drawing/2014/main" id="{6C105B00-1408-38C9-27E2-B8DF06F1D0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3" name="SK-1-img-4" descr="preencoded.png">
            <a:extLst>
              <a:ext uri="{FF2B5EF4-FFF2-40B4-BE49-F238E27FC236}">
                <a16:creationId xmlns:a16="http://schemas.microsoft.com/office/drawing/2014/main" id="{7F32ABDF-A88D-C44C-6868-1508C60A22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23929"/>
            <a:ext cx="12192000" cy="6858000"/>
          </a:xfrm>
          <a:prstGeom prst="rect">
            <a:avLst/>
          </a:prstGeom>
        </p:spPr>
      </p:pic>
      <p:pic>
        <p:nvPicPr>
          <p:cNvPr id="4" name="SK-11-img-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81000"/>
            <a:ext cx="11049000" cy="664815"/>
          </a:xfrm>
          <a:prstGeom prst="rect">
            <a:avLst/>
          </a:prstGeom>
        </p:spPr>
      </p:pic>
      <p:pic>
        <p:nvPicPr>
          <p:cNvPr id="5" name="SK-11-img-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1274415"/>
            <a:ext cx="5410200" cy="2723852"/>
          </a:xfrm>
          <a:prstGeom prst="rect">
            <a:avLst/>
          </a:prstGeom>
        </p:spPr>
      </p:pic>
      <p:pic>
        <p:nvPicPr>
          <p:cNvPr id="6" name="SK-11-img-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2000" y="1464915"/>
            <a:ext cx="381000" cy="381000"/>
          </a:xfrm>
          <a:prstGeom prst="rect">
            <a:avLst/>
          </a:prstGeom>
        </p:spPr>
      </p:pic>
      <p:pic>
        <p:nvPicPr>
          <p:cNvPr id="7" name="SK-11-img-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3438" y="1560165"/>
            <a:ext cx="238125" cy="190500"/>
          </a:xfrm>
          <a:prstGeom prst="rect">
            <a:avLst/>
          </a:prstGeom>
        </p:spPr>
      </p:pic>
      <p:pic>
        <p:nvPicPr>
          <p:cNvPr id="8" name="SK-11-img-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2000" y="3179118"/>
            <a:ext cx="5029200" cy="628650"/>
          </a:xfrm>
          <a:prstGeom prst="rect">
            <a:avLst/>
          </a:prstGeom>
        </p:spPr>
      </p:pic>
      <p:pic>
        <p:nvPicPr>
          <p:cNvPr id="9" name="SK-11-img-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71500" y="4226868"/>
            <a:ext cx="5410200" cy="2366437"/>
          </a:xfrm>
          <a:prstGeom prst="rect">
            <a:avLst/>
          </a:prstGeom>
        </p:spPr>
      </p:pic>
      <p:pic>
        <p:nvPicPr>
          <p:cNvPr id="10" name="SK-11-img-9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2000" y="4417368"/>
            <a:ext cx="381000" cy="381000"/>
          </a:xfrm>
          <a:prstGeom prst="rect">
            <a:avLst/>
          </a:prstGeom>
        </p:spPr>
      </p:pic>
      <p:pic>
        <p:nvPicPr>
          <p:cNvPr id="11" name="SK-11-img-10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33438" y="4512618"/>
            <a:ext cx="238125" cy="190500"/>
          </a:xfrm>
          <a:prstGeom prst="rect">
            <a:avLst/>
          </a:prstGeom>
        </p:spPr>
      </p:pic>
      <p:sp>
        <p:nvSpPr>
          <p:cNvPr id="21" name="SK-11-text-20"/>
          <p:cNvSpPr/>
          <p:nvPr/>
        </p:nvSpPr>
        <p:spPr>
          <a:xfrm>
            <a:off x="762000" y="381000"/>
            <a:ext cx="10934700" cy="2000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1800"/>
              </a:lnSpc>
            </a:pPr>
            <a:r>
              <a:rPr lang="es-CO" sz="1050" b="1" kern="0" spc="120" dirty="0">
                <a:solidFill>
                  <a:srgbClr val="006B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PROYECTO FINAL </a:t>
            </a:r>
            <a:r>
              <a:rPr lang="es-CO" sz="1050" b="1" kern="0" spc="120" dirty="0" err="1">
                <a:solidFill>
                  <a:srgbClr val="006B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Dataxperience</a:t>
            </a:r>
            <a:endParaRPr lang="es-CO" sz="1050" dirty="0"/>
          </a:p>
        </p:txBody>
      </p:sp>
      <p:sp>
        <p:nvSpPr>
          <p:cNvPr id="22" name="SK-11-text-21"/>
          <p:cNvSpPr/>
          <p:nvPr/>
        </p:nvSpPr>
        <p:spPr>
          <a:xfrm>
            <a:off x="762000" y="657225"/>
            <a:ext cx="11430000" cy="38859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3060"/>
              </a:lnSpc>
              <a:buNone/>
            </a:pPr>
            <a:r>
              <a:rPr lang="es-CO" sz="2550" b="1" noProof="0" dirty="0">
                <a:solidFill>
                  <a:srgbClr val="1A1C1E"/>
                </a:solidFill>
              </a:rPr>
              <a:t>Conclusiones</a:t>
            </a:r>
            <a:endParaRPr lang="es-CO" sz="2550" noProof="0" dirty="0"/>
          </a:p>
        </p:txBody>
      </p:sp>
      <p:sp>
        <p:nvSpPr>
          <p:cNvPr id="23" name="SK-11-text-22"/>
          <p:cNvSpPr/>
          <p:nvPr/>
        </p:nvSpPr>
        <p:spPr>
          <a:xfrm>
            <a:off x="1257300" y="1512540"/>
            <a:ext cx="5353050" cy="2857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250"/>
              </a:lnSpc>
              <a:buNone/>
            </a:pPr>
            <a:r>
              <a:rPr lang="es-CO" sz="1500" b="1" dirty="0" err="1">
                <a:solidFill>
                  <a:srgbClr val="1A1C1E"/>
                </a:solidFill>
              </a:rPr>
              <a:t>Analisis</a:t>
            </a:r>
            <a:endParaRPr lang="es-CO" sz="1500" noProof="0" dirty="0"/>
          </a:p>
        </p:txBody>
      </p:sp>
      <p:sp>
        <p:nvSpPr>
          <p:cNvPr id="24" name="SK-11-text-23"/>
          <p:cNvSpPr/>
          <p:nvPr/>
        </p:nvSpPr>
        <p:spPr>
          <a:xfrm>
            <a:off x="762000" y="1998315"/>
            <a:ext cx="8892540" cy="27429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160"/>
              </a:lnSpc>
              <a:buNone/>
            </a:pPr>
            <a:r>
              <a:rPr lang="es-CO" sz="1800" b="1" noProof="0" dirty="0">
                <a:solidFill>
                  <a:srgbClr val="006B75"/>
                </a:solidFill>
              </a:rPr>
              <a:t>Reducción de la Tasa de Rotación</a:t>
            </a:r>
            <a:endParaRPr lang="es-CO" sz="1800" noProof="0" dirty="0"/>
          </a:p>
        </p:txBody>
      </p:sp>
      <p:sp>
        <p:nvSpPr>
          <p:cNvPr id="25" name="SK-11-text-24"/>
          <p:cNvSpPr/>
          <p:nvPr/>
        </p:nvSpPr>
        <p:spPr>
          <a:xfrm>
            <a:off x="762000" y="2425005"/>
            <a:ext cx="5029200" cy="63981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0"/>
              </a:lnSpc>
              <a:buNone/>
            </a:pPr>
            <a:r>
              <a:rPr lang="es-CO" sz="1200" noProof="0" dirty="0">
                <a:solidFill>
                  <a:srgbClr val="444B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 partir del análisis realizado fue posible identificar, las distintas características relacionadas con el abandono de la empresa y poder evaluar la capacidad de distintos modelos predictivos.</a:t>
            </a:r>
            <a:endParaRPr lang="es-CO" sz="1200" noProof="0" dirty="0"/>
          </a:p>
        </p:txBody>
      </p:sp>
      <p:sp>
        <p:nvSpPr>
          <p:cNvPr id="26" name="SK-11-text-25"/>
          <p:cNvSpPr/>
          <p:nvPr/>
        </p:nvSpPr>
        <p:spPr>
          <a:xfrm>
            <a:off x="876300" y="3293418"/>
            <a:ext cx="4800600" cy="4000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s-CO" sz="1125" noProof="0" dirty="0">
                <a:solidFill>
                  <a:srgbClr val="1A1C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Objetivo: Validar la efectividad del modelo Random Forest en la detección temprana de riesgos.</a:t>
            </a:r>
            <a:endParaRPr lang="es-CO" sz="1125" noProof="0" dirty="0"/>
          </a:p>
        </p:txBody>
      </p:sp>
      <p:sp>
        <p:nvSpPr>
          <p:cNvPr id="27" name="SK-11-text-26"/>
          <p:cNvSpPr/>
          <p:nvPr/>
        </p:nvSpPr>
        <p:spPr>
          <a:xfrm>
            <a:off x="1257300" y="4464993"/>
            <a:ext cx="4438650" cy="2857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250"/>
              </a:lnSpc>
              <a:buNone/>
            </a:pPr>
            <a:r>
              <a:rPr lang="es-CO" sz="1500" b="1" noProof="0" dirty="0">
                <a:solidFill>
                  <a:srgbClr val="1A1C1E"/>
                </a:solidFill>
              </a:rPr>
              <a:t>Aplicación profesional</a:t>
            </a:r>
            <a:endParaRPr lang="es-CO" sz="1500" noProof="0" dirty="0"/>
          </a:p>
        </p:txBody>
      </p:sp>
      <p:sp>
        <p:nvSpPr>
          <p:cNvPr id="28" name="SK-11-text-27"/>
          <p:cNvSpPr/>
          <p:nvPr/>
        </p:nvSpPr>
        <p:spPr>
          <a:xfrm>
            <a:off x="952500" y="4950768"/>
            <a:ext cx="9313718" cy="2000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575"/>
              </a:lnSpc>
              <a:buNone/>
            </a:pPr>
            <a:r>
              <a:rPr lang="es-CO" sz="1125" noProof="0" dirty="0">
                <a:solidFill>
                  <a:srgbClr val="444B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Desarrollar una herramienta analítica de recursos humanos.</a:t>
            </a:r>
            <a:endParaRPr lang="es-CO" sz="1125" noProof="0" dirty="0"/>
          </a:p>
        </p:txBody>
      </p:sp>
      <p:sp>
        <p:nvSpPr>
          <p:cNvPr id="29" name="SK-11-text-28"/>
          <p:cNvSpPr/>
          <p:nvPr/>
        </p:nvSpPr>
        <p:spPr>
          <a:xfrm>
            <a:off x="952500" y="5226993"/>
            <a:ext cx="8653895" cy="2000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575"/>
              </a:lnSpc>
              <a:buNone/>
            </a:pPr>
            <a:r>
              <a:rPr lang="es-CO" sz="1125" dirty="0">
                <a:solidFill>
                  <a:srgbClr val="444B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Identificar patrones de p</a:t>
            </a:r>
            <a:r>
              <a:rPr lang="es-CO" sz="1125" noProof="0" dirty="0" err="1">
                <a:solidFill>
                  <a:srgbClr val="444B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ermanencia</a:t>
            </a:r>
            <a:r>
              <a:rPr lang="es-CO" sz="1125" noProof="0" dirty="0">
                <a:solidFill>
                  <a:srgbClr val="444B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promedio.</a:t>
            </a:r>
            <a:endParaRPr lang="es-CO" sz="1125" noProof="0" dirty="0"/>
          </a:p>
        </p:txBody>
      </p:sp>
      <p:sp>
        <p:nvSpPr>
          <p:cNvPr id="30" name="SK-11-text-29"/>
          <p:cNvSpPr/>
          <p:nvPr/>
        </p:nvSpPr>
        <p:spPr>
          <a:xfrm>
            <a:off x="952500" y="5631077"/>
            <a:ext cx="10633364" cy="2000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575"/>
              </a:lnSpc>
              <a:buNone/>
            </a:pPr>
            <a:r>
              <a:rPr lang="es-CO" sz="1125" dirty="0">
                <a:solidFill>
                  <a:srgbClr val="444B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Indicadores de seguimiento para trabajadores </a:t>
            </a:r>
            <a:r>
              <a:rPr lang="es-CO" sz="1125" noProof="0" dirty="0">
                <a:solidFill>
                  <a:srgbClr val="444B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 carga laboral crítica </a:t>
            </a:r>
          </a:p>
          <a:p>
            <a:pPr marL="0" indent="0" algn="l">
              <a:lnSpc>
                <a:spcPts val="1575"/>
              </a:lnSpc>
              <a:buNone/>
            </a:pPr>
            <a:r>
              <a:rPr lang="es-CO" sz="1125" noProof="0" dirty="0">
                <a:solidFill>
                  <a:srgbClr val="444B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(&gt;250h).</a:t>
            </a:r>
            <a:endParaRPr lang="es-CO" sz="1125" noProof="0" dirty="0"/>
          </a:p>
        </p:txBody>
      </p:sp>
      <p:sp>
        <p:nvSpPr>
          <p:cNvPr id="31" name="SK-11-text-30"/>
          <p:cNvSpPr/>
          <p:nvPr/>
        </p:nvSpPr>
        <p:spPr>
          <a:xfrm>
            <a:off x="952500" y="6083515"/>
            <a:ext cx="10303452" cy="2000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575"/>
              </a:lnSpc>
              <a:buNone/>
            </a:pPr>
            <a:r>
              <a:rPr lang="es-CO" sz="1125" noProof="0" dirty="0">
                <a:solidFill>
                  <a:srgbClr val="444B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Información que facilite la toma de deciciones.</a:t>
            </a:r>
            <a:endParaRPr lang="es-CO" sz="1125" noProof="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</TotalTime>
  <Words>1054</Words>
  <Application>Microsoft Office PowerPoint</Application>
  <PresentationFormat>Panorámica</PresentationFormat>
  <Paragraphs>155</Paragraphs>
  <Slides>9</Slides>
  <Notes>9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2" baseType="lpstr">
      <vt:lpstr>Inter</vt:lpstr>
      <vt:lpstr>Arial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Ana Gamboa</cp:lastModifiedBy>
  <cp:revision>4</cp:revision>
  <dcterms:created xsi:type="dcterms:W3CDTF">2026-06-27T22:41:51Z</dcterms:created>
  <dcterms:modified xsi:type="dcterms:W3CDTF">2026-09-19T04:32:54Z</dcterms:modified>
</cp:coreProperties>
</file>